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74" r:id="rId2"/>
    <p:sldId id="256" r:id="rId3"/>
    <p:sldId id="275" r:id="rId4"/>
    <p:sldId id="257" r:id="rId5"/>
    <p:sldId id="266" r:id="rId6"/>
    <p:sldId id="258" r:id="rId7"/>
    <p:sldId id="259" r:id="rId8"/>
    <p:sldId id="260" r:id="rId9"/>
    <p:sldId id="261" r:id="rId10"/>
    <p:sldId id="262" r:id="rId11"/>
    <p:sldId id="268" r:id="rId12"/>
    <p:sldId id="267" r:id="rId13"/>
    <p:sldId id="269" r:id="rId14"/>
    <p:sldId id="272" r:id="rId15"/>
    <p:sldId id="270" r:id="rId16"/>
    <p:sldId id="271" r:id="rId17"/>
    <p:sldId id="273" r:id="rId18"/>
    <p:sldId id="264" r:id="rId19"/>
    <p:sldId id="265" r:id="rId2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68497" autoAdjust="0"/>
  </p:normalViewPr>
  <p:slideViewPr>
    <p:cSldViewPr snapToGrid="0" snapToObjects="1">
      <p:cViewPr varScale="1">
        <p:scale>
          <a:sx n="56" d="100"/>
          <a:sy n="56" d="100"/>
        </p:scale>
        <p:origin x="1685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iamsa\OneDrive\Documents\Data_Analyst_Project\cleaned_healthcare_dataset_with%20pivot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iamsa\OneDrive\Documents\Data_Analyst_Project\cleaned_healthcare_dataset_with%20pivot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9970EDCAAAE6A3C4/Documents/cleaned_healthcare_dataset_with%20pivot%20(1)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[cleaned_healthcare_dataset_with pivot.xlsx]Pivot_Condition!PivotTable1</c:name>
    <c:fmtId val="4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sz="1400" b="1" i="0" u="none" strike="noStrike" baseline="0" dirty="0"/>
              <a:t>Average Billing Amount by Medical Condition</a:t>
            </a:r>
            <a:endParaRPr lang="en-IN" b="1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IN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2"/>
          </a:solidFill>
          <a:ln>
            <a:noFill/>
          </a:ln>
          <a:effectLst/>
        </c:spPr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8.5048309855868615E-2"/>
          <c:y val="0.11974821105894531"/>
          <c:w val="0.76247756314004744"/>
          <c:h val="0.80535421388789741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Pivot_Condition!$B$3</c:f>
              <c:strCache>
                <c:ptCount val="1"/>
                <c:pt idx="0">
                  <c:v>Count of billing_amount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Pivot_Condition!$A$4:$A$10</c:f>
              <c:strCache>
                <c:ptCount val="6"/>
                <c:pt idx="0">
                  <c:v>Arthritis</c:v>
                </c:pt>
                <c:pt idx="1">
                  <c:v>Diabetes</c:v>
                </c:pt>
                <c:pt idx="2">
                  <c:v>Hypertension</c:v>
                </c:pt>
                <c:pt idx="3">
                  <c:v>Obesity</c:v>
                </c:pt>
                <c:pt idx="4">
                  <c:v>Cancer</c:v>
                </c:pt>
                <c:pt idx="5">
                  <c:v>Asthma</c:v>
                </c:pt>
              </c:strCache>
            </c:strRef>
          </c:cat>
          <c:val>
            <c:numRef>
              <c:f>Pivot_Condition!$B$4:$B$10</c:f>
              <c:numCache>
                <c:formatCode>#,##0</c:formatCode>
                <c:ptCount val="6"/>
                <c:pt idx="0">
                  <c:v>9218</c:v>
                </c:pt>
                <c:pt idx="1">
                  <c:v>9216</c:v>
                </c:pt>
                <c:pt idx="2">
                  <c:v>9151</c:v>
                </c:pt>
                <c:pt idx="3">
                  <c:v>9146</c:v>
                </c:pt>
                <c:pt idx="4">
                  <c:v>9140</c:v>
                </c:pt>
                <c:pt idx="5">
                  <c:v>9095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AD0-4823-B333-6B3A10784193}"/>
            </c:ext>
          </c:extLst>
        </c:ser>
        <c:ser>
          <c:idx val="1"/>
          <c:order val="1"/>
          <c:tx>
            <c:strRef>
              <c:f>Pivot_Condition!$C$3</c:f>
              <c:strCache>
                <c:ptCount val="1"/>
                <c:pt idx="0">
                  <c:v>Average of billing_amount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Pivot_Condition!$A$4:$A$10</c:f>
              <c:strCache>
                <c:ptCount val="6"/>
                <c:pt idx="0">
                  <c:v>Arthritis</c:v>
                </c:pt>
                <c:pt idx="1">
                  <c:v>Diabetes</c:v>
                </c:pt>
                <c:pt idx="2">
                  <c:v>Hypertension</c:v>
                </c:pt>
                <c:pt idx="3">
                  <c:v>Obesity</c:v>
                </c:pt>
                <c:pt idx="4">
                  <c:v>Cancer</c:v>
                </c:pt>
                <c:pt idx="5">
                  <c:v>Asthma</c:v>
                </c:pt>
              </c:strCache>
            </c:strRef>
          </c:cat>
          <c:val>
            <c:numRef>
              <c:f>Pivot_Condition!$C$4:$C$10</c:f>
              <c:numCache>
                <c:formatCode>#,##0.0</c:formatCode>
                <c:ptCount val="6"/>
                <c:pt idx="0">
                  <c:v>25511.783246275121</c:v>
                </c:pt>
                <c:pt idx="1">
                  <c:v>25660.478635243897</c:v>
                </c:pt>
                <c:pt idx="2">
                  <c:v>25503.05872012387</c:v>
                </c:pt>
                <c:pt idx="3">
                  <c:v>25804.361901759188</c:v>
                </c:pt>
                <c:pt idx="4">
                  <c:v>25152.322946627428</c:v>
                </c:pt>
                <c:pt idx="5">
                  <c:v>25633.461696246035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AD0-4823-B333-6B3A10784193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1803548176"/>
        <c:axId val="1594612592"/>
      </c:barChart>
      <c:catAx>
        <c:axId val="180354817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94612592"/>
        <c:crosses val="autoZero"/>
        <c:auto val="1"/>
        <c:lblAlgn val="ctr"/>
        <c:lblOffset val="100"/>
        <c:noMultiLvlLbl val="0"/>
      </c:catAx>
      <c:valAx>
        <c:axId val="159461259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0354817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8344269265484392"/>
          <c:y val="0.40697525526072248"/>
          <c:w val="0.15604018818677606"/>
          <c:h val="0.30259212143953196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[cleaned_healthcare_dataset_with pivot.xlsx]Pivot_Admission!PivotTable2</c:name>
    <c:fmtId val="4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sz="1400" b="0" i="0" u="none" strike="noStrike" baseline="0"/>
              <a:t>Average Billing: Medical Condition × Admission Type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Pivot_Admission!$B$3:$B$4</c:f>
              <c:strCache>
                <c:ptCount val="1"/>
                <c:pt idx="0">
                  <c:v>Elective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Pivot_Admission!$A$5:$A$11</c:f>
              <c:strCache>
                <c:ptCount val="6"/>
                <c:pt idx="0">
                  <c:v>Arthritis</c:v>
                </c:pt>
                <c:pt idx="1">
                  <c:v>Asthma</c:v>
                </c:pt>
                <c:pt idx="2">
                  <c:v>Cancer</c:v>
                </c:pt>
                <c:pt idx="3">
                  <c:v>Diabetes</c:v>
                </c:pt>
                <c:pt idx="4">
                  <c:v>Hypertension</c:v>
                </c:pt>
                <c:pt idx="5">
                  <c:v>Obesity</c:v>
                </c:pt>
              </c:strCache>
            </c:strRef>
          </c:cat>
          <c:val>
            <c:numRef>
              <c:f>Pivot_Admission!$B$5:$B$11</c:f>
              <c:numCache>
                <c:formatCode>#,##0.00</c:formatCode>
                <c:ptCount val="6"/>
                <c:pt idx="0">
                  <c:v>25479.594413891828</c:v>
                </c:pt>
                <c:pt idx="1">
                  <c:v>25253.907793720533</c:v>
                </c:pt>
                <c:pt idx="2">
                  <c:v>25671.842589239332</c:v>
                </c:pt>
                <c:pt idx="3">
                  <c:v>26032.124898640835</c:v>
                </c:pt>
                <c:pt idx="4">
                  <c:v>25555.088834724946</c:v>
                </c:pt>
                <c:pt idx="5">
                  <c:v>25687.732671837704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9E1-4E78-B8F4-676BF293666F}"/>
            </c:ext>
          </c:extLst>
        </c:ser>
        <c:ser>
          <c:idx val="1"/>
          <c:order val="1"/>
          <c:tx>
            <c:strRef>
              <c:f>Pivot_Admission!$C$3:$C$4</c:f>
              <c:strCache>
                <c:ptCount val="1"/>
                <c:pt idx="0">
                  <c:v>Emergency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Pivot_Admission!$A$5:$A$11</c:f>
              <c:strCache>
                <c:ptCount val="6"/>
                <c:pt idx="0">
                  <c:v>Arthritis</c:v>
                </c:pt>
                <c:pt idx="1">
                  <c:v>Asthma</c:v>
                </c:pt>
                <c:pt idx="2">
                  <c:v>Cancer</c:v>
                </c:pt>
                <c:pt idx="3">
                  <c:v>Diabetes</c:v>
                </c:pt>
                <c:pt idx="4">
                  <c:v>Hypertension</c:v>
                </c:pt>
                <c:pt idx="5">
                  <c:v>Obesity</c:v>
                </c:pt>
              </c:strCache>
            </c:strRef>
          </c:cat>
          <c:val>
            <c:numRef>
              <c:f>Pivot_Admission!$C$5:$C$11</c:f>
              <c:numCache>
                <c:formatCode>#,##0.00</c:formatCode>
                <c:ptCount val="6"/>
                <c:pt idx="0">
                  <c:v>25497.105307914851</c:v>
                </c:pt>
                <c:pt idx="1">
                  <c:v>25893.700903142715</c:v>
                </c:pt>
                <c:pt idx="2">
                  <c:v>24867.223526534839</c:v>
                </c:pt>
                <c:pt idx="3">
                  <c:v>25471.610170364671</c:v>
                </c:pt>
                <c:pt idx="4">
                  <c:v>25471.370387961055</c:v>
                </c:pt>
                <c:pt idx="5">
                  <c:v>25820.553647862813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9E1-4E78-B8F4-676BF293666F}"/>
            </c:ext>
          </c:extLst>
        </c:ser>
        <c:ser>
          <c:idx val="2"/>
          <c:order val="2"/>
          <c:tx>
            <c:strRef>
              <c:f>Pivot_Admission!$D$3:$D$4</c:f>
              <c:strCache>
                <c:ptCount val="1"/>
                <c:pt idx="0">
                  <c:v>Urgent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Pivot_Admission!$A$5:$A$11</c:f>
              <c:strCache>
                <c:ptCount val="6"/>
                <c:pt idx="0">
                  <c:v>Arthritis</c:v>
                </c:pt>
                <c:pt idx="1">
                  <c:v>Asthma</c:v>
                </c:pt>
                <c:pt idx="2">
                  <c:v>Cancer</c:v>
                </c:pt>
                <c:pt idx="3">
                  <c:v>Diabetes</c:v>
                </c:pt>
                <c:pt idx="4">
                  <c:v>Hypertension</c:v>
                </c:pt>
                <c:pt idx="5">
                  <c:v>Obesity</c:v>
                </c:pt>
              </c:strCache>
            </c:strRef>
          </c:cat>
          <c:val>
            <c:numRef>
              <c:f>Pivot_Admission!$D$5:$D$11</c:f>
              <c:numCache>
                <c:formatCode>#,##0.00</c:formatCode>
                <c:ptCount val="6"/>
                <c:pt idx="0">
                  <c:v>25558.383151996128</c:v>
                </c:pt>
                <c:pt idx="1">
                  <c:v>25761.36805081055</c:v>
                </c:pt>
                <c:pt idx="2">
                  <c:v>24900.213960499543</c:v>
                </c:pt>
                <c:pt idx="3">
                  <c:v>25484.65103083444</c:v>
                </c:pt>
                <c:pt idx="4">
                  <c:v>25479.248754701235</c:v>
                </c:pt>
                <c:pt idx="5">
                  <c:v>25903.815123564134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79E1-4E78-B8F4-676BF293666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851664288"/>
        <c:axId val="1594623632"/>
      </c:barChart>
      <c:catAx>
        <c:axId val="185166428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94623632"/>
        <c:crosses val="autoZero"/>
        <c:auto val="1"/>
        <c:lblAlgn val="ctr"/>
        <c:lblOffset val="100"/>
        <c:noMultiLvlLbl val="0"/>
      </c:catAx>
      <c:valAx>
        <c:axId val="159462363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51664288"/>
        <c:crosses val="autoZero"/>
        <c:crossBetween val="between"/>
      </c:valAx>
      <c:dTable>
        <c:showHorzBorder val="1"/>
        <c:showVertBorder val="1"/>
        <c:showOutline val="1"/>
        <c:showKeys val="1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vert="horz" wrap="square" anchor="ctr" anchorCtr="1"/>
          <a:lstStyle/>
          <a:p>
            <a:pPr rtl="0"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</c:dTable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86097110215053774"/>
          <c:y val="0.38676579661119004"/>
          <c:w val="0.12894825268817206"/>
          <c:h val="0.30641251960293286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[cleaned_healthcare_dataset_with pivot (1).xlsx]Pivot_Insurance!PivotTable3</c:name>
    <c:fmtId val="11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sz="1400" b="1" i="0" u="none" strike="noStrike" baseline="0"/>
              <a:t>Total Claims and Revenue by Insurance Provider</a:t>
            </a:r>
            <a:endParaRPr lang="en-IN" b="1"/>
          </a:p>
        </c:rich>
      </c:tx>
      <c:overlay val="0"/>
      <c:spPr>
        <a:gradFill flip="none" rotWithShape="1">
          <a:gsLst>
            <a:gs pos="0">
              <a:schemeClr val="accent3">
                <a:lumMod val="0"/>
                <a:lumOff val="100000"/>
              </a:schemeClr>
            </a:gs>
            <a:gs pos="35000">
              <a:schemeClr val="accent3">
                <a:lumMod val="0"/>
                <a:lumOff val="100000"/>
              </a:schemeClr>
            </a:gs>
            <a:gs pos="100000">
              <a:schemeClr val="accent3">
                <a:lumMod val="100000"/>
              </a:schemeClr>
            </a:gs>
          </a:gsLst>
          <a:path path="circle">
            <a:fillToRect l="50000" t="-80000" r="50000" b="180000"/>
          </a:path>
          <a:tileRect/>
        </a:gra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IN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gradFill flip="none" rotWithShape="1">
              <a:gsLst>
                <a:gs pos="0">
                  <a:schemeClr val="accent3">
                    <a:lumMod val="5000"/>
                    <a:lumOff val="95000"/>
                  </a:schemeClr>
                </a:gs>
                <a:gs pos="74000">
                  <a:schemeClr val="accent3">
                    <a:lumMod val="45000"/>
                    <a:lumOff val="55000"/>
                  </a:schemeClr>
                </a:gs>
                <a:gs pos="83000">
                  <a:schemeClr val="accent3">
                    <a:lumMod val="45000"/>
                    <a:lumOff val="55000"/>
                  </a:schemeClr>
                </a:gs>
                <a:gs pos="100000">
                  <a:schemeClr val="accent3">
                    <a:lumMod val="30000"/>
                    <a:lumOff val="70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solidFill>
                <a:schemeClr val="dk1">
                  <a:lumMod val="25000"/>
                  <a:lumOff val="75000"/>
                </a:schemeClr>
              </a:solidFill>
            </a:ln>
            <a:effectLst/>
          </c:spPr>
          <c:txPr>
            <a:bodyPr rot="0" spcFirstLastPara="1" vertOverflow="clip" horzOverflow="clip" vert="horz" wrap="square" lIns="36576" tIns="18288" rIns="36576" bIns="18288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roundRec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layout>
            <c:manualLayout>
              <c:x val="1.1437342695097476E-2"/>
              <c:y val="5.8680847162914983E-3"/>
            </c:manualLayout>
          </c:layout>
          <c:spPr>
            <a:gradFill flip="none" rotWithShape="1">
              <a:gsLst>
                <a:gs pos="0">
                  <a:schemeClr val="accent3">
                    <a:lumMod val="5000"/>
                    <a:lumOff val="95000"/>
                  </a:schemeClr>
                </a:gs>
                <a:gs pos="74000">
                  <a:schemeClr val="accent3">
                    <a:lumMod val="45000"/>
                    <a:lumOff val="55000"/>
                  </a:schemeClr>
                </a:gs>
                <a:gs pos="83000">
                  <a:schemeClr val="accent3">
                    <a:lumMod val="45000"/>
                    <a:lumOff val="55000"/>
                  </a:schemeClr>
                </a:gs>
                <a:gs pos="100000">
                  <a:schemeClr val="accent3">
                    <a:lumMod val="30000"/>
                    <a:lumOff val="70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solidFill>
                <a:schemeClr val="dk1">
                  <a:lumMod val="25000"/>
                  <a:lumOff val="75000"/>
                </a:schemeClr>
              </a:solidFill>
            </a:ln>
            <a:effectLst/>
          </c:spPr>
          <c:txPr>
            <a:bodyPr rot="0" spcFirstLastPara="1" vertOverflow="clip" horzOverflow="clip" vert="horz" wrap="square" lIns="36576" tIns="18288" rIns="36576" bIns="18288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roundRect">
                  <a:avLst/>
                </a:prstGeom>
                <a:noFill/>
                <a:ln>
                  <a:noFill/>
                </a:ln>
              </c15:spPr>
              <c15:layout>
                <c:manualLayout>
                  <c:w val="5.1909745401051366E-2"/>
                  <c:h val="4.3399984918560217E-2"/>
                </c:manualLayout>
              </c15:layout>
            </c:ext>
          </c:extLst>
        </c:dLbl>
      </c:pivotFmt>
      <c:pivotFmt>
        <c:idx val="3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layout>
            <c:manualLayout>
              <c:x val="-5.7186432046195832E-3"/>
              <c:y val="7.0417016595498046E-3"/>
            </c:manualLayout>
          </c:layout>
          <c:spPr>
            <a:gradFill flip="none" rotWithShape="1">
              <a:gsLst>
                <a:gs pos="0">
                  <a:schemeClr val="accent3">
                    <a:lumMod val="5000"/>
                    <a:lumOff val="95000"/>
                  </a:schemeClr>
                </a:gs>
                <a:gs pos="74000">
                  <a:schemeClr val="accent3">
                    <a:lumMod val="45000"/>
                    <a:lumOff val="55000"/>
                  </a:schemeClr>
                </a:gs>
                <a:gs pos="83000">
                  <a:schemeClr val="accent3">
                    <a:lumMod val="45000"/>
                    <a:lumOff val="55000"/>
                  </a:schemeClr>
                </a:gs>
                <a:gs pos="100000">
                  <a:schemeClr val="accent3">
                    <a:lumMod val="30000"/>
                    <a:lumOff val="70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solidFill>
                <a:schemeClr val="dk1">
                  <a:lumMod val="25000"/>
                  <a:lumOff val="75000"/>
                </a:schemeClr>
              </a:solidFill>
            </a:ln>
            <a:effectLst/>
          </c:spPr>
          <c:txPr>
            <a:bodyPr rot="0" spcFirstLastPara="1" vertOverflow="clip" horzOverflow="clip" vert="horz" wrap="square" lIns="36576" tIns="18288" rIns="36576" bIns="18288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roundRect">
                  <a:avLst/>
                </a:prstGeom>
                <a:noFill/>
                <a:ln>
                  <a:noFill/>
                </a:ln>
              </c15:spPr>
              <c15:layout>
                <c:manualLayout>
                  <c:w val="5.3339406202206271E-2"/>
                  <c:h val="4.8094452691593431E-2"/>
                </c:manualLayout>
              </c15:layout>
            </c:ext>
          </c:extLst>
        </c:dLbl>
      </c:pivotFmt>
      <c:pivotFmt>
        <c:idx val="4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gradFill flip="none" rotWithShape="1">
              <a:gsLst>
                <a:gs pos="0">
                  <a:schemeClr val="accent3">
                    <a:lumMod val="5000"/>
                    <a:lumOff val="95000"/>
                  </a:schemeClr>
                </a:gs>
                <a:gs pos="74000">
                  <a:schemeClr val="accent3">
                    <a:lumMod val="45000"/>
                    <a:lumOff val="55000"/>
                  </a:schemeClr>
                </a:gs>
                <a:gs pos="83000">
                  <a:schemeClr val="accent3">
                    <a:lumMod val="45000"/>
                    <a:lumOff val="55000"/>
                  </a:schemeClr>
                </a:gs>
                <a:gs pos="100000">
                  <a:schemeClr val="accent3">
                    <a:lumMod val="30000"/>
                    <a:lumOff val="70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solidFill>
                <a:schemeClr val="dk1">
                  <a:lumMod val="25000"/>
                  <a:lumOff val="75000"/>
                </a:schemeClr>
              </a:solidFill>
            </a:ln>
            <a:effectLst/>
          </c:spPr>
          <c:txPr>
            <a:bodyPr rot="0" spcFirstLastPara="1" vertOverflow="clip" horzOverflow="clip" vert="horz" wrap="square" lIns="36576" tIns="18288" rIns="36576" bIns="18288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roundRect">
                  <a:avLst/>
                </a:prstGeom>
                <a:noFill/>
                <a:ln>
                  <a:noFill/>
                </a:ln>
              </c15:spPr>
              <c15:layout>
                <c:manualLayout>
                  <c:w val="5.1909745401051366E-2"/>
                  <c:h val="3.870551714552703E-2"/>
                </c:manualLayout>
              </c15:layout>
            </c:ext>
          </c:extLst>
        </c:dLbl>
      </c:pivotFmt>
      <c:pivotFmt>
        <c:idx val="5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gradFill flip="none" rotWithShape="1">
              <a:gsLst>
                <a:gs pos="0">
                  <a:schemeClr val="accent3">
                    <a:lumMod val="5000"/>
                    <a:lumOff val="95000"/>
                  </a:schemeClr>
                </a:gs>
                <a:gs pos="74000">
                  <a:schemeClr val="accent3">
                    <a:lumMod val="45000"/>
                    <a:lumOff val="55000"/>
                  </a:schemeClr>
                </a:gs>
                <a:gs pos="83000">
                  <a:schemeClr val="accent3">
                    <a:lumMod val="45000"/>
                    <a:lumOff val="55000"/>
                  </a:schemeClr>
                </a:gs>
                <a:gs pos="100000">
                  <a:schemeClr val="accent3">
                    <a:lumMod val="30000"/>
                    <a:lumOff val="70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solidFill>
                <a:schemeClr val="dk1">
                  <a:lumMod val="25000"/>
                  <a:lumOff val="75000"/>
                </a:schemeClr>
              </a:solidFill>
            </a:ln>
            <a:effectLst/>
          </c:spPr>
          <c:txPr>
            <a:bodyPr rot="0" spcFirstLastPara="1" vertOverflow="clip" horzOverflow="clip" vert="horz" wrap="square" lIns="36576" tIns="18288" rIns="36576" bIns="18288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roundRect">
                  <a:avLst/>
                </a:prstGeom>
                <a:noFill/>
                <a:ln>
                  <a:noFill/>
                </a:ln>
              </c15:spPr>
              <c15:layout>
                <c:manualLayout>
                  <c:w val="5.4769067003361163E-2"/>
                  <c:h val="3.4011049372493822E-2"/>
                </c:manualLayout>
              </c15:layout>
            </c:ext>
          </c:extLst>
        </c:dLbl>
      </c:pivotFmt>
      <c:pivotFmt>
        <c:idx val="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gradFill flip="none" rotWithShape="1">
              <a:gsLst>
                <a:gs pos="0">
                  <a:schemeClr val="accent3">
                    <a:lumMod val="5000"/>
                    <a:lumOff val="95000"/>
                  </a:schemeClr>
                </a:gs>
                <a:gs pos="74000">
                  <a:schemeClr val="accent3">
                    <a:lumMod val="45000"/>
                    <a:lumOff val="55000"/>
                  </a:schemeClr>
                </a:gs>
                <a:gs pos="83000">
                  <a:schemeClr val="accent3">
                    <a:lumMod val="45000"/>
                    <a:lumOff val="55000"/>
                  </a:schemeClr>
                </a:gs>
                <a:gs pos="100000">
                  <a:schemeClr val="accent3">
                    <a:lumMod val="30000"/>
                    <a:lumOff val="70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solidFill>
                <a:schemeClr val="dk1">
                  <a:lumMod val="25000"/>
                  <a:lumOff val="75000"/>
                </a:schemeClr>
              </a:solidFill>
            </a:ln>
            <a:effectLst/>
          </c:spPr>
          <c:txPr>
            <a:bodyPr rot="0" spcFirstLastPara="1" vertOverflow="clip" horzOverflow="clip" vert="horz" wrap="square" lIns="36576" tIns="18288" rIns="36576" bIns="18288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roundRec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8"/>
        <c:spPr>
          <a:solidFill>
            <a:schemeClr val="accent1"/>
          </a:solidFill>
          <a:ln w="28575" cap="rnd">
            <a:solidFill>
              <a:schemeClr val="accent2"/>
            </a:solidFill>
            <a:round/>
          </a:ln>
          <a:effectLst/>
        </c:spPr>
        <c:marker>
          <c:symbol val="none"/>
        </c:marker>
        <c:dLbl>
          <c:idx val="0"/>
          <c:spPr>
            <a:gradFill flip="none" rotWithShape="1">
              <a:gsLst>
                <a:gs pos="0">
                  <a:schemeClr val="accent3">
                    <a:lumMod val="5000"/>
                    <a:lumOff val="95000"/>
                  </a:schemeClr>
                </a:gs>
                <a:gs pos="74000">
                  <a:schemeClr val="accent3">
                    <a:lumMod val="45000"/>
                    <a:lumOff val="55000"/>
                  </a:schemeClr>
                </a:gs>
                <a:gs pos="83000">
                  <a:schemeClr val="accent3">
                    <a:lumMod val="45000"/>
                    <a:lumOff val="55000"/>
                  </a:schemeClr>
                </a:gs>
                <a:gs pos="100000">
                  <a:schemeClr val="accent3">
                    <a:lumMod val="30000"/>
                    <a:lumOff val="70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solidFill>
                <a:schemeClr val="dk1">
                  <a:lumMod val="25000"/>
                  <a:lumOff val="75000"/>
                </a:schemeClr>
              </a:solidFill>
            </a:ln>
            <a:effectLst/>
          </c:spPr>
          <c:txPr>
            <a:bodyPr rot="0" spcFirstLastPara="1" vertOverflow="clip" horzOverflow="clip" vert="horz" wrap="square" lIns="36576" tIns="18288" rIns="36576" bIns="18288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roundRect">
                  <a:avLst/>
                </a:prstGeom>
                <a:noFill/>
                <a:ln>
                  <a:noFill/>
                </a:ln>
              </c15:spPr>
              <c15:layout>
                <c:manualLayout>
                  <c:w val="5.1909745401051366E-2"/>
                  <c:h val="3.870551714552703E-2"/>
                </c:manualLayout>
              </c15:layout>
            </c:ext>
          </c:extLst>
        </c:dLbl>
      </c:pivotFmt>
      <c:pivotFmt>
        <c:idx val="9"/>
        <c:spPr>
          <a:solidFill>
            <a:schemeClr val="accent1"/>
          </a:solidFill>
          <a:ln w="28575" cap="rnd">
            <a:solidFill>
              <a:schemeClr val="accent2"/>
            </a:solidFill>
            <a:round/>
          </a:ln>
          <a:effectLst/>
        </c:spPr>
        <c:marker>
          <c:symbol val="none"/>
        </c:marker>
        <c:dLbl>
          <c:idx val="0"/>
          <c:layout>
            <c:manualLayout>
              <c:x val="1.1437342695097476E-2"/>
              <c:y val="5.8680847162914983E-3"/>
            </c:manualLayout>
          </c:layout>
          <c:spPr>
            <a:gradFill flip="none" rotWithShape="1">
              <a:gsLst>
                <a:gs pos="0">
                  <a:schemeClr val="accent3">
                    <a:lumMod val="5000"/>
                    <a:lumOff val="95000"/>
                  </a:schemeClr>
                </a:gs>
                <a:gs pos="74000">
                  <a:schemeClr val="accent3">
                    <a:lumMod val="45000"/>
                    <a:lumOff val="55000"/>
                  </a:schemeClr>
                </a:gs>
                <a:gs pos="83000">
                  <a:schemeClr val="accent3">
                    <a:lumMod val="45000"/>
                    <a:lumOff val="55000"/>
                  </a:schemeClr>
                </a:gs>
                <a:gs pos="100000">
                  <a:schemeClr val="accent3">
                    <a:lumMod val="30000"/>
                    <a:lumOff val="70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solidFill>
                <a:schemeClr val="dk1">
                  <a:lumMod val="25000"/>
                  <a:lumOff val="75000"/>
                </a:schemeClr>
              </a:solidFill>
            </a:ln>
            <a:effectLst/>
          </c:spPr>
          <c:txPr>
            <a:bodyPr rot="0" spcFirstLastPara="1" vertOverflow="clip" horzOverflow="clip" vert="horz" wrap="square" lIns="36576" tIns="18288" rIns="36576" bIns="18288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roundRect">
                  <a:avLst/>
                </a:prstGeom>
                <a:noFill/>
                <a:ln>
                  <a:noFill/>
                </a:ln>
              </c15:spPr>
              <c15:layout>
                <c:manualLayout>
                  <c:w val="5.1909745401051366E-2"/>
                  <c:h val="4.3399984918560217E-2"/>
                </c:manualLayout>
              </c15:layout>
            </c:ext>
          </c:extLst>
        </c:dLbl>
      </c:pivotFmt>
      <c:pivotFmt>
        <c:idx val="10"/>
        <c:spPr>
          <a:solidFill>
            <a:schemeClr val="accent1"/>
          </a:solidFill>
          <a:ln w="28575" cap="rnd">
            <a:solidFill>
              <a:schemeClr val="accent2"/>
            </a:solidFill>
            <a:round/>
          </a:ln>
          <a:effectLst/>
        </c:spPr>
        <c:marker>
          <c:symbol val="none"/>
        </c:marker>
        <c:dLbl>
          <c:idx val="0"/>
          <c:spPr>
            <a:gradFill flip="none" rotWithShape="1">
              <a:gsLst>
                <a:gs pos="0">
                  <a:schemeClr val="accent3">
                    <a:lumMod val="5000"/>
                    <a:lumOff val="95000"/>
                  </a:schemeClr>
                </a:gs>
                <a:gs pos="74000">
                  <a:schemeClr val="accent3">
                    <a:lumMod val="45000"/>
                    <a:lumOff val="55000"/>
                  </a:schemeClr>
                </a:gs>
                <a:gs pos="83000">
                  <a:schemeClr val="accent3">
                    <a:lumMod val="45000"/>
                    <a:lumOff val="55000"/>
                  </a:schemeClr>
                </a:gs>
                <a:gs pos="100000">
                  <a:schemeClr val="accent3">
                    <a:lumMod val="30000"/>
                    <a:lumOff val="70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solidFill>
                <a:schemeClr val="dk1">
                  <a:lumMod val="25000"/>
                  <a:lumOff val="75000"/>
                </a:schemeClr>
              </a:solidFill>
            </a:ln>
            <a:effectLst/>
          </c:spPr>
          <c:txPr>
            <a:bodyPr rot="0" spcFirstLastPara="1" vertOverflow="clip" horzOverflow="clip" vert="horz" wrap="square" lIns="36576" tIns="18288" rIns="36576" bIns="18288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roundRect">
                  <a:avLst/>
                </a:prstGeom>
                <a:noFill/>
                <a:ln>
                  <a:noFill/>
                </a:ln>
              </c15:spPr>
              <c15:layout>
                <c:manualLayout>
                  <c:w val="5.4769067003361163E-2"/>
                  <c:h val="3.4011049372493822E-2"/>
                </c:manualLayout>
              </c15:layout>
            </c:ext>
          </c:extLst>
        </c:dLbl>
      </c:pivotFmt>
      <c:pivotFmt>
        <c:idx val="11"/>
        <c:spPr>
          <a:solidFill>
            <a:schemeClr val="accent1"/>
          </a:solidFill>
          <a:ln w="28575" cap="rnd">
            <a:solidFill>
              <a:schemeClr val="accent2"/>
            </a:solidFill>
            <a:round/>
          </a:ln>
          <a:effectLst/>
        </c:spPr>
        <c:marker>
          <c:symbol val="none"/>
        </c:marker>
        <c:dLbl>
          <c:idx val="0"/>
          <c:layout>
            <c:manualLayout>
              <c:x val="-5.7186432046195832E-3"/>
              <c:y val="7.0417016595498046E-3"/>
            </c:manualLayout>
          </c:layout>
          <c:spPr>
            <a:gradFill flip="none" rotWithShape="1">
              <a:gsLst>
                <a:gs pos="0">
                  <a:schemeClr val="accent3">
                    <a:lumMod val="5000"/>
                    <a:lumOff val="95000"/>
                  </a:schemeClr>
                </a:gs>
                <a:gs pos="74000">
                  <a:schemeClr val="accent3">
                    <a:lumMod val="45000"/>
                    <a:lumOff val="55000"/>
                  </a:schemeClr>
                </a:gs>
                <a:gs pos="83000">
                  <a:schemeClr val="accent3">
                    <a:lumMod val="45000"/>
                    <a:lumOff val="55000"/>
                  </a:schemeClr>
                </a:gs>
                <a:gs pos="100000">
                  <a:schemeClr val="accent3">
                    <a:lumMod val="30000"/>
                    <a:lumOff val="70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solidFill>
                <a:schemeClr val="dk1">
                  <a:lumMod val="25000"/>
                  <a:lumOff val="75000"/>
                </a:schemeClr>
              </a:solidFill>
            </a:ln>
            <a:effectLst/>
          </c:spPr>
          <c:txPr>
            <a:bodyPr rot="0" spcFirstLastPara="1" vertOverflow="clip" horzOverflow="clip" vert="horz" wrap="square" lIns="36576" tIns="18288" rIns="36576" bIns="18288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roundRect">
                  <a:avLst/>
                </a:prstGeom>
                <a:noFill/>
                <a:ln>
                  <a:noFill/>
                </a:ln>
              </c15:spPr>
              <c15:layout>
                <c:manualLayout>
                  <c:w val="5.3339406202206271E-2"/>
                  <c:h val="4.8094452691593431E-2"/>
                </c:manualLayout>
              </c15:layout>
            </c:ext>
          </c:extLst>
        </c:dLbl>
      </c:pivotFmt>
      <c:pivotFmt>
        <c:idx val="1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gradFill flip="none" rotWithShape="1">
              <a:gsLst>
                <a:gs pos="0">
                  <a:schemeClr val="accent3">
                    <a:lumMod val="5000"/>
                    <a:lumOff val="95000"/>
                  </a:schemeClr>
                </a:gs>
                <a:gs pos="74000">
                  <a:schemeClr val="accent3">
                    <a:lumMod val="45000"/>
                    <a:lumOff val="55000"/>
                  </a:schemeClr>
                </a:gs>
                <a:gs pos="83000">
                  <a:schemeClr val="accent3">
                    <a:lumMod val="45000"/>
                    <a:lumOff val="55000"/>
                  </a:schemeClr>
                </a:gs>
                <a:gs pos="100000">
                  <a:schemeClr val="accent3">
                    <a:lumMod val="30000"/>
                    <a:lumOff val="70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solidFill>
                <a:schemeClr val="dk1">
                  <a:lumMod val="25000"/>
                  <a:lumOff val="75000"/>
                </a:schemeClr>
              </a:solidFill>
            </a:ln>
            <a:effectLst/>
          </c:spPr>
          <c:txPr>
            <a:bodyPr rot="0" spcFirstLastPara="1" vertOverflow="clip" horzOverflow="clip" vert="horz" wrap="square" lIns="36576" tIns="18288" rIns="36576" bIns="18288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roundRec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14"/>
        <c:spPr>
          <a:solidFill>
            <a:schemeClr val="accent1"/>
          </a:solidFill>
          <a:ln w="28575" cap="rnd">
            <a:solidFill>
              <a:schemeClr val="accent2"/>
            </a:solidFill>
            <a:round/>
          </a:ln>
          <a:effectLst/>
        </c:spPr>
        <c:marker>
          <c:symbol val="none"/>
        </c:marker>
        <c:dLbl>
          <c:idx val="0"/>
          <c:spPr>
            <a:gradFill flip="none" rotWithShape="1">
              <a:gsLst>
                <a:gs pos="0">
                  <a:schemeClr val="accent3">
                    <a:lumMod val="5000"/>
                    <a:lumOff val="95000"/>
                  </a:schemeClr>
                </a:gs>
                <a:gs pos="74000">
                  <a:schemeClr val="accent3">
                    <a:lumMod val="45000"/>
                    <a:lumOff val="55000"/>
                  </a:schemeClr>
                </a:gs>
                <a:gs pos="83000">
                  <a:schemeClr val="accent3">
                    <a:lumMod val="45000"/>
                    <a:lumOff val="55000"/>
                  </a:schemeClr>
                </a:gs>
                <a:gs pos="100000">
                  <a:schemeClr val="accent3">
                    <a:lumMod val="30000"/>
                    <a:lumOff val="70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solidFill>
                <a:schemeClr val="dk1">
                  <a:lumMod val="25000"/>
                  <a:lumOff val="75000"/>
                </a:schemeClr>
              </a:solidFill>
            </a:ln>
            <a:effectLst/>
          </c:spPr>
          <c:txPr>
            <a:bodyPr rot="0" spcFirstLastPara="1" vertOverflow="clip" horzOverflow="clip" vert="horz" wrap="square" lIns="36576" tIns="18288" rIns="36576" bIns="18288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roundRect">
                  <a:avLst/>
                </a:prstGeom>
                <a:noFill/>
                <a:ln>
                  <a:noFill/>
                </a:ln>
              </c15:spPr>
              <c15:layout>
                <c:manualLayout>
                  <c:w val="5.1909745401051366E-2"/>
                  <c:h val="3.870551714552703E-2"/>
                </c:manualLayout>
              </c15:layout>
            </c:ext>
          </c:extLst>
        </c:dLbl>
      </c:pivotFmt>
      <c:pivotFmt>
        <c:idx val="15"/>
        <c:spPr>
          <a:solidFill>
            <a:schemeClr val="accent1"/>
          </a:solidFill>
          <a:ln w="28575" cap="rnd">
            <a:solidFill>
              <a:schemeClr val="accent2"/>
            </a:solidFill>
            <a:round/>
          </a:ln>
          <a:effectLst/>
        </c:spPr>
        <c:marker>
          <c:symbol val="none"/>
        </c:marker>
        <c:dLbl>
          <c:idx val="0"/>
          <c:layout>
            <c:manualLayout>
              <c:x val="1.1437342695097476E-2"/>
              <c:y val="5.8680847162914983E-3"/>
            </c:manualLayout>
          </c:layout>
          <c:spPr>
            <a:gradFill flip="none" rotWithShape="1">
              <a:gsLst>
                <a:gs pos="0">
                  <a:schemeClr val="accent3">
                    <a:lumMod val="5000"/>
                    <a:lumOff val="95000"/>
                  </a:schemeClr>
                </a:gs>
                <a:gs pos="74000">
                  <a:schemeClr val="accent3">
                    <a:lumMod val="45000"/>
                    <a:lumOff val="55000"/>
                  </a:schemeClr>
                </a:gs>
                <a:gs pos="83000">
                  <a:schemeClr val="accent3">
                    <a:lumMod val="45000"/>
                    <a:lumOff val="55000"/>
                  </a:schemeClr>
                </a:gs>
                <a:gs pos="100000">
                  <a:schemeClr val="accent3">
                    <a:lumMod val="30000"/>
                    <a:lumOff val="70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solidFill>
                <a:schemeClr val="dk1">
                  <a:lumMod val="25000"/>
                  <a:lumOff val="75000"/>
                </a:schemeClr>
              </a:solidFill>
            </a:ln>
            <a:effectLst/>
          </c:spPr>
          <c:txPr>
            <a:bodyPr rot="0" spcFirstLastPara="1" vertOverflow="clip" horzOverflow="clip" vert="horz" wrap="square" lIns="36576" tIns="18288" rIns="36576" bIns="18288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roundRect">
                  <a:avLst/>
                </a:prstGeom>
                <a:noFill/>
                <a:ln>
                  <a:noFill/>
                </a:ln>
              </c15:spPr>
              <c15:layout>
                <c:manualLayout>
                  <c:w val="5.1909745401051366E-2"/>
                  <c:h val="4.3399984918560217E-2"/>
                </c:manualLayout>
              </c15:layout>
            </c:ext>
          </c:extLst>
        </c:dLbl>
      </c:pivotFmt>
      <c:pivotFmt>
        <c:idx val="16"/>
        <c:spPr>
          <a:solidFill>
            <a:schemeClr val="accent1"/>
          </a:solidFill>
          <a:ln w="28575" cap="rnd">
            <a:solidFill>
              <a:schemeClr val="accent2"/>
            </a:solidFill>
            <a:round/>
          </a:ln>
          <a:effectLst/>
        </c:spPr>
        <c:marker>
          <c:symbol val="none"/>
        </c:marker>
        <c:dLbl>
          <c:idx val="0"/>
          <c:spPr>
            <a:gradFill flip="none" rotWithShape="1">
              <a:gsLst>
                <a:gs pos="0">
                  <a:schemeClr val="accent3">
                    <a:lumMod val="5000"/>
                    <a:lumOff val="95000"/>
                  </a:schemeClr>
                </a:gs>
                <a:gs pos="74000">
                  <a:schemeClr val="accent3">
                    <a:lumMod val="45000"/>
                    <a:lumOff val="55000"/>
                  </a:schemeClr>
                </a:gs>
                <a:gs pos="83000">
                  <a:schemeClr val="accent3">
                    <a:lumMod val="45000"/>
                    <a:lumOff val="55000"/>
                  </a:schemeClr>
                </a:gs>
                <a:gs pos="100000">
                  <a:schemeClr val="accent3">
                    <a:lumMod val="30000"/>
                    <a:lumOff val="70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solidFill>
                <a:schemeClr val="dk1">
                  <a:lumMod val="25000"/>
                  <a:lumOff val="75000"/>
                </a:schemeClr>
              </a:solidFill>
            </a:ln>
            <a:effectLst/>
          </c:spPr>
          <c:txPr>
            <a:bodyPr rot="0" spcFirstLastPara="1" vertOverflow="clip" horzOverflow="clip" vert="horz" wrap="square" lIns="36576" tIns="18288" rIns="36576" bIns="18288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roundRect">
                  <a:avLst/>
                </a:prstGeom>
                <a:noFill/>
                <a:ln>
                  <a:noFill/>
                </a:ln>
              </c15:spPr>
              <c15:layout>
                <c:manualLayout>
                  <c:w val="5.4769067003361163E-2"/>
                  <c:h val="3.4011049372493822E-2"/>
                </c:manualLayout>
              </c15:layout>
            </c:ext>
          </c:extLst>
        </c:dLbl>
      </c:pivotFmt>
      <c:pivotFmt>
        <c:idx val="17"/>
        <c:spPr>
          <a:solidFill>
            <a:schemeClr val="accent1"/>
          </a:solidFill>
          <a:ln w="28575" cap="rnd">
            <a:solidFill>
              <a:schemeClr val="accent2"/>
            </a:solidFill>
            <a:round/>
          </a:ln>
          <a:effectLst/>
        </c:spPr>
        <c:marker>
          <c:symbol val="none"/>
        </c:marker>
        <c:dLbl>
          <c:idx val="0"/>
          <c:layout>
            <c:manualLayout>
              <c:x val="-5.7186432046195832E-3"/>
              <c:y val="7.0417016595498046E-3"/>
            </c:manualLayout>
          </c:layout>
          <c:spPr>
            <a:gradFill flip="none" rotWithShape="1">
              <a:gsLst>
                <a:gs pos="0">
                  <a:schemeClr val="accent3">
                    <a:lumMod val="5000"/>
                    <a:lumOff val="95000"/>
                  </a:schemeClr>
                </a:gs>
                <a:gs pos="74000">
                  <a:schemeClr val="accent3">
                    <a:lumMod val="45000"/>
                    <a:lumOff val="55000"/>
                  </a:schemeClr>
                </a:gs>
                <a:gs pos="83000">
                  <a:schemeClr val="accent3">
                    <a:lumMod val="45000"/>
                    <a:lumOff val="55000"/>
                  </a:schemeClr>
                </a:gs>
                <a:gs pos="100000">
                  <a:schemeClr val="accent3">
                    <a:lumMod val="30000"/>
                    <a:lumOff val="70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solidFill>
                <a:schemeClr val="dk1">
                  <a:lumMod val="25000"/>
                  <a:lumOff val="75000"/>
                </a:schemeClr>
              </a:solidFill>
            </a:ln>
            <a:effectLst/>
          </c:spPr>
          <c:txPr>
            <a:bodyPr rot="0" spcFirstLastPara="1" vertOverflow="clip" horzOverflow="clip" vert="horz" wrap="square" lIns="36576" tIns="18288" rIns="36576" bIns="18288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roundRect">
                  <a:avLst/>
                </a:prstGeom>
                <a:noFill/>
                <a:ln>
                  <a:noFill/>
                </a:ln>
              </c15:spPr>
              <c15:layout>
                <c:manualLayout>
                  <c:w val="5.3339406202206271E-2"/>
                  <c:h val="4.8094452691593431E-2"/>
                </c:manualLayout>
              </c15:layout>
            </c:ext>
          </c:extLst>
        </c:dLbl>
      </c:pivotFmt>
    </c:pivotFmts>
    <c:plotArea>
      <c:layout>
        <c:manualLayout>
          <c:layoutTarget val="inner"/>
          <c:xMode val="edge"/>
          <c:yMode val="edge"/>
          <c:x val="0.24714270941708905"/>
          <c:y val="8.6637392890275944E-2"/>
          <c:w val="0.61384039639616017"/>
          <c:h val="0.77660555149690602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Pivot_Insurance!$B$3</c:f>
              <c:strCache>
                <c:ptCount val="1"/>
                <c:pt idx="0">
                  <c:v>Total Revenue (₹)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trendline>
            <c:spPr>
              <a:ln w="19050" cap="rnd">
                <a:solidFill>
                  <a:schemeClr val="accent1"/>
                </a:solidFill>
                <a:prstDash val="sysDot"/>
              </a:ln>
              <a:effectLst/>
            </c:spPr>
            <c:trendlineType val="poly"/>
            <c:order val="2"/>
            <c:dispRSqr val="0"/>
            <c:dispEq val="0"/>
          </c:trendline>
          <c:cat>
            <c:strRef>
              <c:f>Pivot_Insurance!$A$4:$A$9</c:f>
              <c:strCache>
                <c:ptCount val="5"/>
                <c:pt idx="0">
                  <c:v>Aetna</c:v>
                </c:pt>
                <c:pt idx="1">
                  <c:v>Blue Cross</c:v>
                </c:pt>
                <c:pt idx="2">
                  <c:v>Cigna</c:v>
                </c:pt>
                <c:pt idx="3">
                  <c:v>Medicare</c:v>
                </c:pt>
                <c:pt idx="4">
                  <c:v>UnitedHealthcare</c:v>
                </c:pt>
              </c:strCache>
            </c:strRef>
          </c:cat>
          <c:val>
            <c:numRef>
              <c:f>Pivot_Insurance!$B$4:$B$9</c:f>
              <c:numCache>
                <c:formatCode>"₹"\ #,##0.00</c:formatCode>
                <c:ptCount val="5"/>
                <c:pt idx="0">
                  <c:v>276498741.37204123</c:v>
                </c:pt>
                <c:pt idx="1">
                  <c:v>280409100.52319962</c:v>
                </c:pt>
                <c:pt idx="2">
                  <c:v>284334099.18401116</c:v>
                </c:pt>
                <c:pt idx="3">
                  <c:v>282911026.77453244</c:v>
                </c:pt>
                <c:pt idx="4">
                  <c:v>279915371.37366402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E2F-4F07-B76C-0184E1D07E0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1951634384"/>
        <c:axId val="1594617872"/>
      </c:barChart>
      <c:lineChart>
        <c:grouping val="standard"/>
        <c:varyColors val="0"/>
        <c:ser>
          <c:idx val="1"/>
          <c:order val="1"/>
          <c:tx>
            <c:strRef>
              <c:f>Pivot_Insurance!$C$3</c:f>
              <c:strCache>
                <c:ptCount val="1"/>
                <c:pt idx="0">
                  <c:v>Claims Count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dPt>
            <c:idx val="0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02-1E2F-4F07-B76C-0184E1D07E08}"/>
              </c:ext>
            </c:extLst>
          </c:dPt>
          <c:dPt>
            <c:idx val="1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03-1E2F-4F07-B76C-0184E1D07E08}"/>
              </c:ext>
            </c:extLst>
          </c:dPt>
          <c:dPt>
            <c:idx val="2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04-1E2F-4F07-B76C-0184E1D07E08}"/>
              </c:ext>
            </c:extLst>
          </c:dPt>
          <c:dPt>
            <c:idx val="4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05-1E2F-4F07-B76C-0184E1D07E08}"/>
              </c:ext>
            </c:extLst>
          </c:dPt>
          <c:dLbls>
            <c:dLbl>
              <c:idx val="0"/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5.1909745401051366E-2"/>
                      <c:h val="3.870551714552703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2-1E2F-4F07-B76C-0184E1D07E08}"/>
                </c:ext>
              </c:extLst>
            </c:dLbl>
            <c:dLbl>
              <c:idx val="1"/>
              <c:layout>
                <c:manualLayout>
                  <c:x val="1.1437342695097476E-2"/>
                  <c:y val="5.8680847162914983E-3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5.1909745401051366E-2"/>
                      <c:h val="4.3399984918560217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3-1E2F-4F07-B76C-0184E1D07E08}"/>
                </c:ext>
              </c:extLst>
            </c:dLbl>
            <c:dLbl>
              <c:idx val="2"/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5.4769067003361163E-2"/>
                      <c:h val="3.4011049372493822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4-1E2F-4F07-B76C-0184E1D07E08}"/>
                </c:ext>
              </c:extLst>
            </c:dLbl>
            <c:dLbl>
              <c:idx val="4"/>
              <c:layout>
                <c:manualLayout>
                  <c:x val="-5.7186432046195832E-3"/>
                  <c:y val="7.0417016595498046E-3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5.3339406202206271E-2"/>
                      <c:h val="4.8094452691593431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5-1E2F-4F07-B76C-0184E1D07E08}"/>
                </c:ext>
              </c:extLst>
            </c:dLbl>
            <c:spPr>
              <a:gradFill flip="none" rotWithShape="1">
                <a:gsLst>
                  <a:gs pos="0">
                    <a:schemeClr val="accent3">
                      <a:lumMod val="5000"/>
                      <a:lumOff val="95000"/>
                    </a:schemeClr>
                  </a:gs>
                  <a:gs pos="74000">
                    <a:schemeClr val="accent3">
                      <a:lumMod val="45000"/>
                      <a:lumOff val="55000"/>
                    </a:schemeClr>
                  </a:gs>
                  <a:gs pos="83000">
                    <a:schemeClr val="accent3">
                      <a:lumMod val="45000"/>
                      <a:lumOff val="55000"/>
                    </a:schemeClr>
                  </a:gs>
                  <a:gs pos="100000">
                    <a:schemeClr val="accent3">
                      <a:lumMod val="30000"/>
                      <a:lumOff val="70000"/>
                    </a:schemeClr>
                  </a:gs>
                </a:gsLst>
                <a:path path="circle">
                  <a:fillToRect l="100000" t="100000"/>
                </a:path>
                <a:tileRect r="-100000" b="-100000"/>
              </a:gradFill>
              <a:ln>
                <a:solidFill>
                  <a:schemeClr val="dk1">
                    <a:lumMod val="25000"/>
                    <a:lumOff val="75000"/>
                  </a:schemeClr>
                </a:solidFill>
              </a:ln>
              <a:effectLst/>
            </c:spPr>
            <c:txPr>
              <a:bodyPr rot="0" spcFirstLastPara="1" vertOverflow="clip" horzOverflow="clip" vert="horz" wrap="square" lIns="36576" tIns="18288" rIns="36576" bIns="18288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oundRect">
                    <a:avLst/>
                  </a:prstGeom>
                  <a:noFill/>
                  <a:ln>
                    <a:noFill/>
                  </a:ln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Pivot_Insurance!$A$4:$A$9</c:f>
              <c:strCache>
                <c:ptCount val="5"/>
                <c:pt idx="0">
                  <c:v>Aetna</c:v>
                </c:pt>
                <c:pt idx="1">
                  <c:v>Blue Cross</c:v>
                </c:pt>
                <c:pt idx="2">
                  <c:v>Cigna</c:v>
                </c:pt>
                <c:pt idx="3">
                  <c:v>Medicare</c:v>
                </c:pt>
                <c:pt idx="4">
                  <c:v>UnitedHealthcare</c:v>
                </c:pt>
              </c:strCache>
            </c:strRef>
          </c:cat>
          <c:val>
            <c:numRef>
              <c:f>Pivot_Insurance!$C$4:$C$9</c:f>
              <c:numCache>
                <c:formatCode>#,##0</c:formatCode>
                <c:ptCount val="5"/>
                <c:pt idx="0">
                  <c:v>10822</c:v>
                </c:pt>
                <c:pt idx="1">
                  <c:v>10952</c:v>
                </c:pt>
                <c:pt idx="2">
                  <c:v>11139</c:v>
                </c:pt>
                <c:pt idx="3">
                  <c:v>11039</c:v>
                </c:pt>
                <c:pt idx="4">
                  <c:v>11014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6-1E2F-4F07-B76C-0184E1D07E0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888480048"/>
        <c:axId val="1929835920"/>
      </c:lineChart>
      <c:catAx>
        <c:axId val="195163438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94617872"/>
        <c:crosses val="autoZero"/>
        <c:auto val="1"/>
        <c:lblAlgn val="ctr"/>
        <c:lblOffset val="100"/>
        <c:noMultiLvlLbl val="0"/>
      </c:catAx>
      <c:valAx>
        <c:axId val="15946178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&quot;₹&quot;\ #,##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51634384"/>
        <c:crosses val="autoZero"/>
        <c:crossBetween val="between"/>
      </c:valAx>
      <c:valAx>
        <c:axId val="1929835920"/>
        <c:scaling>
          <c:orientation val="minMax"/>
        </c:scaling>
        <c:delete val="0"/>
        <c:axPos val="r"/>
        <c:numFmt formatCode="#,##0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88480048"/>
        <c:crosses val="max"/>
        <c:crossBetween val="between"/>
      </c:valAx>
      <c:catAx>
        <c:axId val="1888480048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929835920"/>
        <c:crosses val="autoZero"/>
        <c:auto val="1"/>
        <c:lblAlgn val="ctr"/>
        <c:lblOffset val="100"/>
        <c:noMultiLvlLbl val="0"/>
      </c:catAx>
      <c:dTable>
        <c:showHorzBorder val="1"/>
        <c:showVertBorder val="1"/>
        <c:showOutline val="1"/>
        <c:showKeys val="1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vert="horz" wrap="square" anchor="ctr" anchorCtr="1"/>
          <a:lstStyle/>
          <a:p>
            <a:pPr rtl="0"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</c:dTable>
      <c:spPr>
        <a:gradFill flip="none" rotWithShape="1">
          <a:gsLst>
            <a:gs pos="0">
              <a:schemeClr val="accent3">
                <a:lumMod val="5000"/>
                <a:lumOff val="95000"/>
              </a:schemeClr>
            </a:gs>
            <a:gs pos="74000">
              <a:schemeClr val="accent3">
                <a:lumMod val="45000"/>
                <a:lumOff val="55000"/>
              </a:schemeClr>
            </a:gs>
            <a:gs pos="83000">
              <a:schemeClr val="accent3">
                <a:lumMod val="45000"/>
                <a:lumOff val="55000"/>
              </a:schemeClr>
            </a:gs>
            <a:gs pos="100000">
              <a:schemeClr val="accent3">
                <a:lumMod val="30000"/>
                <a:lumOff val="70000"/>
              </a:schemeClr>
            </a:gs>
          </a:gsLst>
          <a:lin ang="5400000" scaled="1"/>
          <a:tileRect/>
        </a:gradFill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797178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kaggle.com/datasets/prasad22/healthcare-dataset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s://1drv.ms/x/c/9970EDCAAAE6A3C4/IQDMbi4UOuI7SZ9S6ht0LqElAV6UV7vimqg0OT328W_mID0?e=jfXXpK" TargetMode="Externa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0">
            <a:extLst>
              <a:ext uri="{FF2B5EF4-FFF2-40B4-BE49-F238E27FC236}">
                <a16:creationId xmlns:a16="http://schemas.microsoft.com/office/drawing/2014/main" id="{ABC1FFEF-F0E1-C40F-BFBD-5A6E0F448A27}"/>
              </a:ext>
            </a:extLst>
          </p:cNvPr>
          <p:cNvSpPr/>
          <p:nvPr/>
        </p:nvSpPr>
        <p:spPr>
          <a:xfrm>
            <a:off x="0" y="-62654"/>
            <a:ext cx="12297747" cy="6920654"/>
          </a:xfrm>
          <a:prstGeom prst="rect">
            <a:avLst/>
          </a:prstGeom>
          <a:solidFill>
            <a:srgbClr val="0C1C2B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39" name="Shape 1">
            <a:extLst>
              <a:ext uri="{FF2B5EF4-FFF2-40B4-BE49-F238E27FC236}">
                <a16:creationId xmlns:a16="http://schemas.microsoft.com/office/drawing/2014/main" id="{43C4571E-99FE-EF1B-6464-4582D2A5E4A1}"/>
              </a:ext>
            </a:extLst>
          </p:cNvPr>
          <p:cNvSpPr/>
          <p:nvPr/>
        </p:nvSpPr>
        <p:spPr>
          <a:xfrm>
            <a:off x="-481460" y="4109201"/>
            <a:ext cx="3108960" cy="3108960"/>
          </a:xfrm>
          <a:prstGeom prst="ellipse">
            <a:avLst/>
          </a:prstGeom>
          <a:solidFill>
            <a:srgbClr val="1B7A72">
              <a:alpha val="22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1" name="Shape 2">
            <a:extLst>
              <a:ext uri="{FF2B5EF4-FFF2-40B4-BE49-F238E27FC236}">
                <a16:creationId xmlns:a16="http://schemas.microsoft.com/office/drawing/2014/main" id="{16B02A7A-3960-481B-0C57-115491CD26E4}"/>
              </a:ext>
            </a:extLst>
          </p:cNvPr>
          <p:cNvSpPr/>
          <p:nvPr/>
        </p:nvSpPr>
        <p:spPr>
          <a:xfrm>
            <a:off x="11176207" y="-434340"/>
            <a:ext cx="2377440" cy="2377440"/>
          </a:xfrm>
          <a:prstGeom prst="ellipse">
            <a:avLst/>
          </a:prstGeom>
          <a:solidFill>
            <a:srgbClr val="D9724C">
              <a:alpha val="22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3" name="Text 3">
            <a:extLst>
              <a:ext uri="{FF2B5EF4-FFF2-40B4-BE49-F238E27FC236}">
                <a16:creationId xmlns:a16="http://schemas.microsoft.com/office/drawing/2014/main" id="{77B77C45-FF96-57DD-DFE6-A940B6C0F072}"/>
              </a:ext>
            </a:extLst>
          </p:cNvPr>
          <p:cNvSpPr/>
          <p:nvPr/>
        </p:nvSpPr>
        <p:spPr>
          <a:xfrm>
            <a:off x="568234" y="699796"/>
            <a:ext cx="4638248" cy="77124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kern="0" spc="150" dirty="0">
                <a:solidFill>
                  <a:srgbClr val="1B7A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BCA · SEMESTER 3 · VSIT,VIPS</a:t>
            </a:r>
            <a:endParaRPr lang="en-US" sz="2800" dirty="0"/>
          </a:p>
        </p:txBody>
      </p:sp>
      <p:sp>
        <p:nvSpPr>
          <p:cNvPr id="67" name="Text 16">
            <a:extLst>
              <a:ext uri="{FF2B5EF4-FFF2-40B4-BE49-F238E27FC236}">
                <a16:creationId xmlns:a16="http://schemas.microsoft.com/office/drawing/2014/main" id="{C9AACD75-F2D6-4E73-7B64-6361753C4321}"/>
              </a:ext>
            </a:extLst>
          </p:cNvPr>
          <p:cNvSpPr/>
          <p:nvPr/>
        </p:nvSpPr>
        <p:spPr>
          <a:xfrm>
            <a:off x="7535403" y="6475306"/>
            <a:ext cx="47623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B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Vocational / Skill-Based Summer Training  |  36+ Hour Certification Module</a:t>
            </a:r>
            <a:endParaRPr lang="en-US" sz="1050" dirty="0"/>
          </a:p>
        </p:txBody>
      </p:sp>
      <p:sp>
        <p:nvSpPr>
          <p:cNvPr id="69" name="Rectangle: Rounded Corners 68">
            <a:extLst>
              <a:ext uri="{FF2B5EF4-FFF2-40B4-BE49-F238E27FC236}">
                <a16:creationId xmlns:a16="http://schemas.microsoft.com/office/drawing/2014/main" id="{439FB897-5AF1-8564-6165-CDF31BB5A937}"/>
              </a:ext>
            </a:extLst>
          </p:cNvPr>
          <p:cNvSpPr/>
          <p:nvPr/>
        </p:nvSpPr>
        <p:spPr>
          <a:xfrm>
            <a:off x="4502952" y="2022877"/>
            <a:ext cx="5714067" cy="2749592"/>
          </a:xfrm>
          <a:prstGeom prst="roundRect">
            <a:avLst/>
          </a:prstGeom>
          <a:solidFill>
            <a:schemeClr val="accent1">
              <a:lumMod val="75000"/>
              <a:alpha val="50000"/>
            </a:schemeClr>
          </a:solidFill>
          <a:ln>
            <a:noFill/>
          </a:ln>
          <a:effectLst>
            <a:reflection blurRad="6350" stA="50000" endA="275" endPos="40000" dist="101600" dir="5400000" sy="-100000" algn="bl" rotWithShape="0"/>
          </a:effectLst>
          <a:scene3d>
            <a:camera prst="perspectiveHeroicExtremeRightFacing"/>
            <a:lightRig rig="threePt" dir="t"/>
          </a:scene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05000"/>
              </a:lnSpc>
            </a:pPr>
            <a:r>
              <a:rPr lang="en-US" sz="3200" b="1" u="sng" dirty="0">
                <a:solidFill>
                  <a:schemeClr val="accent5">
                    <a:lumMod val="40000"/>
                    <a:lumOff val="60000"/>
                  </a:scheme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Vocational</a:t>
            </a:r>
            <a:endParaRPr lang="en-US" sz="3200" u="sng" dirty="0">
              <a:solidFill>
                <a:schemeClr val="accent5">
                  <a:lumMod val="40000"/>
                  <a:lumOff val="60000"/>
                </a:schemeClr>
              </a:solidFill>
            </a:endParaRPr>
          </a:p>
          <a:p>
            <a:pPr>
              <a:lnSpc>
                <a:spcPct val="105000"/>
              </a:lnSpc>
            </a:pPr>
            <a:r>
              <a:rPr lang="en-US" sz="3200" b="1" u="sng" dirty="0">
                <a:solidFill>
                  <a:schemeClr val="accent5">
                    <a:lumMod val="40000"/>
                    <a:lumOff val="60000"/>
                  </a:scheme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Training</a:t>
            </a:r>
            <a:endParaRPr lang="en-US" sz="3200" u="sng" dirty="0">
              <a:solidFill>
                <a:schemeClr val="accent5">
                  <a:lumMod val="40000"/>
                  <a:lumOff val="60000"/>
                </a:schemeClr>
              </a:solidFill>
            </a:endParaRPr>
          </a:p>
          <a:p>
            <a:pPr>
              <a:lnSpc>
                <a:spcPct val="105000"/>
              </a:lnSpc>
            </a:pPr>
            <a:r>
              <a:rPr lang="en-US" sz="3200" b="1" u="sng" dirty="0">
                <a:solidFill>
                  <a:schemeClr val="accent5">
                    <a:lumMod val="40000"/>
                    <a:lumOff val="60000"/>
                  </a:scheme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Course</a:t>
            </a:r>
            <a:endParaRPr lang="en-US" sz="3200" u="sng" dirty="0">
              <a:solidFill>
                <a:schemeClr val="accent5">
                  <a:lumMod val="40000"/>
                  <a:lumOff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7560532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6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0C1C2B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3" name="Shape 1"/>
          <p:cNvSpPr/>
          <p:nvPr/>
        </p:nvSpPr>
        <p:spPr>
          <a:xfrm>
            <a:off x="-1097280" y="4846320"/>
            <a:ext cx="3108960" cy="3108960"/>
          </a:xfrm>
          <a:prstGeom prst="ellipse">
            <a:avLst/>
          </a:prstGeom>
          <a:solidFill>
            <a:srgbClr val="1B7A72">
              <a:alpha val="22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2377440" y="-1280160"/>
            <a:ext cx="2377440" cy="2377440"/>
          </a:xfrm>
          <a:prstGeom prst="ellipse">
            <a:avLst/>
          </a:prstGeom>
          <a:solidFill>
            <a:srgbClr val="D9724C">
              <a:alpha val="22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292048" y="18288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150" dirty="0">
                <a:solidFill>
                  <a:srgbClr val="1B7A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BCA · SEMESTER 3 · VSIT,VIPS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754880" y="12344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B7A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TOPIC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583680" y="1170059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Hospital Billing &amp; Operations Analytics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754880" y="1856232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B7A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NAME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583680" y="1791851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Saarth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754880" y="2478024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B7A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ROLL NO.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583680" y="2405245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05329802025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754880" y="3099816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B7A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CLASS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583680" y="3035435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BCA - Section EA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754880" y="3721608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B7A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COLLEGE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583680" y="3657227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Vivekananda Institute of Professional Studies (VSIT)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754880" y="4480560"/>
            <a:ext cx="6858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i="1" dirty="0">
                <a:solidFill>
                  <a:srgbClr val="F7F9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 5-Tool Data Pipeline: Python -&gt; MySQL -&gt; Matplotlib -&gt; Excel -&gt; Tableau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754880" y="626364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B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Vocational / Skill-Based Summer Training  |  36+ Hour Certification Module</a:t>
            </a:r>
            <a:endParaRPr lang="en-US" sz="1050" dirty="0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2A6438BC-6BC0-E3F2-95E5-6D1FB22ED277}"/>
              </a:ext>
            </a:extLst>
          </p:cNvPr>
          <p:cNvSpPr/>
          <p:nvPr/>
        </p:nvSpPr>
        <p:spPr>
          <a:xfrm>
            <a:off x="292048" y="3063240"/>
            <a:ext cx="3622144" cy="2322576"/>
          </a:xfrm>
          <a:prstGeom prst="roundRect">
            <a:avLst/>
          </a:prstGeom>
          <a:solidFill>
            <a:schemeClr val="accent1">
              <a:lumMod val="75000"/>
              <a:alpha val="50000"/>
            </a:schemeClr>
          </a:solidFill>
          <a:ln>
            <a:noFill/>
          </a:ln>
          <a:scene3d>
            <a:camera prst="perspectiveHeroicExtremeRightFacing"/>
            <a:lightRig rig="threePt" dir="t"/>
          </a:scene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05000"/>
              </a:lnSpc>
            </a:pPr>
            <a:r>
              <a:rPr lang="en-US" sz="3200" b="1" u="sng" dirty="0">
                <a:solidFill>
                  <a:schemeClr val="accent5">
                    <a:lumMod val="40000"/>
                    <a:lumOff val="60000"/>
                  </a:scheme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Vocational</a:t>
            </a:r>
            <a:endParaRPr lang="en-US" sz="3200" u="sng" dirty="0">
              <a:solidFill>
                <a:schemeClr val="accent5">
                  <a:lumMod val="40000"/>
                  <a:lumOff val="60000"/>
                </a:schemeClr>
              </a:solidFill>
            </a:endParaRPr>
          </a:p>
          <a:p>
            <a:pPr>
              <a:lnSpc>
                <a:spcPct val="105000"/>
              </a:lnSpc>
            </a:pPr>
            <a:r>
              <a:rPr lang="en-US" sz="3200" b="1" u="sng" dirty="0">
                <a:solidFill>
                  <a:schemeClr val="accent5">
                    <a:lumMod val="40000"/>
                    <a:lumOff val="60000"/>
                  </a:scheme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Training</a:t>
            </a:r>
            <a:endParaRPr lang="en-US" sz="3200" u="sng" dirty="0">
              <a:solidFill>
                <a:schemeClr val="accent5">
                  <a:lumMod val="40000"/>
                  <a:lumOff val="60000"/>
                </a:schemeClr>
              </a:solidFill>
            </a:endParaRPr>
          </a:p>
          <a:p>
            <a:pPr>
              <a:lnSpc>
                <a:spcPct val="105000"/>
              </a:lnSpc>
            </a:pPr>
            <a:r>
              <a:rPr lang="en-US" sz="3200" b="1" u="sng" dirty="0">
                <a:solidFill>
                  <a:schemeClr val="accent5">
                    <a:lumMod val="40000"/>
                    <a:lumOff val="60000"/>
                  </a:scheme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Course</a:t>
            </a:r>
            <a:endParaRPr lang="en-US" sz="3200" u="sng" dirty="0">
              <a:solidFill>
                <a:schemeClr val="accent5">
                  <a:lumMod val="40000"/>
                  <a:lumOff val="60000"/>
                </a:scheme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87000">
              <a:schemeClr val="accent1">
                <a:lumMod val="75000"/>
              </a:schemeClr>
            </a:gs>
            <a:gs pos="100000">
              <a:schemeClr val="accent5">
                <a:lumMod val="95000"/>
                <a:lumOff val="5000"/>
              </a:schemeClr>
            </a:gs>
            <a:gs pos="84000">
              <a:srgbClr val="497BB7"/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Shape 0">
            <a:extLst>
              <a:ext uri="{FF2B5EF4-FFF2-40B4-BE49-F238E27FC236}">
                <a16:creationId xmlns:a16="http://schemas.microsoft.com/office/drawing/2014/main" id="{132D8D47-DE74-A2A3-5844-B0E9DDF07B71}"/>
              </a:ext>
            </a:extLst>
          </p:cNvPr>
          <p:cNvSpPr/>
          <p:nvPr/>
        </p:nvSpPr>
        <p:spPr>
          <a:xfrm>
            <a:off x="7934325" y="-12160"/>
            <a:ext cx="4277200" cy="6882319"/>
          </a:xfrm>
          <a:prstGeom prst="rect">
            <a:avLst/>
          </a:prstGeom>
          <a:solidFill>
            <a:srgbClr val="0C1C2B"/>
          </a:solidFill>
          <a:ln>
            <a:noFill/>
          </a:ln>
        </p:spPr>
        <p:txBody>
          <a:bodyPr/>
          <a:lstStyle/>
          <a:p>
            <a:endParaRPr lang="en-IN" dirty="0"/>
          </a:p>
        </p:txBody>
      </p:sp>
      <p:sp>
        <p:nvSpPr>
          <p:cNvPr id="78" name="Text 2">
            <a:extLst>
              <a:ext uri="{FF2B5EF4-FFF2-40B4-BE49-F238E27FC236}">
                <a16:creationId xmlns:a16="http://schemas.microsoft.com/office/drawing/2014/main" id="{74253630-281A-AFFE-2290-C9C77F235784}"/>
              </a:ext>
            </a:extLst>
          </p:cNvPr>
          <p:cNvSpPr/>
          <p:nvPr/>
        </p:nvSpPr>
        <p:spPr>
          <a:xfrm>
            <a:off x="701040" y="4269096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36 total tracked hours across two certification blocks - exceeding the 30-hour college requirement.</a:t>
            </a:r>
            <a:endParaRPr lang="en-US" sz="13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80" name="Shape 3">
            <a:extLst>
              <a:ext uri="{FF2B5EF4-FFF2-40B4-BE49-F238E27FC236}">
                <a16:creationId xmlns:a16="http://schemas.microsoft.com/office/drawing/2014/main" id="{2D33514D-440C-EACD-361A-533855DDF843}"/>
              </a:ext>
            </a:extLst>
          </p:cNvPr>
          <p:cNvSpPr/>
          <p:nvPr/>
        </p:nvSpPr>
        <p:spPr>
          <a:xfrm>
            <a:off x="-11022312" y="4719256"/>
            <a:ext cx="5204616" cy="3768448"/>
          </a:xfrm>
          <a:prstGeom prst="roundRect">
            <a:avLst>
              <a:gd name="adj" fmla="val 1739"/>
            </a:avLst>
          </a:prstGeom>
          <a:solidFill>
            <a:srgbClr val="EFF3F4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82" name="Shape 7">
            <a:extLst>
              <a:ext uri="{FF2B5EF4-FFF2-40B4-BE49-F238E27FC236}">
                <a16:creationId xmlns:a16="http://schemas.microsoft.com/office/drawing/2014/main" id="{F1FD5D58-97C6-AA91-7DDF-D27BC1AC3026}"/>
              </a:ext>
            </a:extLst>
          </p:cNvPr>
          <p:cNvSpPr/>
          <p:nvPr/>
        </p:nvSpPr>
        <p:spPr>
          <a:xfrm>
            <a:off x="-10679341" y="5066209"/>
            <a:ext cx="4480560" cy="0"/>
          </a:xfrm>
          <a:prstGeom prst="line">
            <a:avLst/>
          </a:prstGeom>
          <a:noFill/>
          <a:ln w="12700">
            <a:solidFill>
              <a:srgbClr val="D5DCD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4" name="Text 8">
            <a:extLst>
              <a:ext uri="{FF2B5EF4-FFF2-40B4-BE49-F238E27FC236}">
                <a16:creationId xmlns:a16="http://schemas.microsoft.com/office/drawing/2014/main" id="{DAA0E329-F64D-2648-EE05-F886AFFE001A}"/>
              </a:ext>
            </a:extLst>
          </p:cNvPr>
          <p:cNvSpPr/>
          <p:nvPr/>
        </p:nvSpPr>
        <p:spPr>
          <a:xfrm>
            <a:off x="-10739990" y="5277546"/>
            <a:ext cx="4572000" cy="3703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kern="0" spc="100" dirty="0">
                <a:solidFill>
                  <a:srgbClr val="D972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COURSE 1 </a:t>
            </a:r>
            <a:r>
              <a:rPr lang="en-US" sz="2800" b="1" kern="0" spc="100" dirty="0">
                <a:solidFill>
                  <a:srgbClr val="D972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-</a:t>
            </a:r>
            <a:r>
              <a:rPr lang="en-US" sz="1100" b="1" kern="0" spc="100" dirty="0">
                <a:solidFill>
                  <a:srgbClr val="D972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sz="1400" b="1" kern="0" spc="100" dirty="0">
                <a:solidFill>
                  <a:srgbClr val="D972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IBM DATA ANALYST PATH</a:t>
            </a:r>
            <a:endParaRPr lang="en-US" sz="1400" dirty="0"/>
          </a:p>
        </p:txBody>
      </p:sp>
      <p:sp>
        <p:nvSpPr>
          <p:cNvPr id="86" name="Text 9">
            <a:extLst>
              <a:ext uri="{FF2B5EF4-FFF2-40B4-BE49-F238E27FC236}">
                <a16:creationId xmlns:a16="http://schemas.microsoft.com/office/drawing/2014/main" id="{9DC2B563-4DEF-7D79-A10E-9657C49BB537}"/>
              </a:ext>
            </a:extLst>
          </p:cNvPr>
          <p:cNvSpPr/>
          <p:nvPr/>
        </p:nvSpPr>
        <p:spPr>
          <a:xfrm>
            <a:off x="-10511390" y="5785039"/>
            <a:ext cx="3703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226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SQL and Relational Databases 101</a:t>
            </a:r>
            <a:endParaRPr lang="en-US" sz="1150" dirty="0"/>
          </a:p>
        </p:txBody>
      </p:sp>
      <p:sp>
        <p:nvSpPr>
          <p:cNvPr id="88" name="Text 10">
            <a:extLst>
              <a:ext uri="{FF2B5EF4-FFF2-40B4-BE49-F238E27FC236}">
                <a16:creationId xmlns:a16="http://schemas.microsoft.com/office/drawing/2014/main" id="{8DA4FF61-A92D-AB61-28D4-784688AB96EF}"/>
              </a:ext>
            </a:extLst>
          </p:cNvPr>
          <p:cNvSpPr/>
          <p:nvPr/>
        </p:nvSpPr>
        <p:spPr>
          <a:xfrm>
            <a:off x="-6716630" y="5785039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1B7A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 hrs</a:t>
            </a:r>
            <a:endParaRPr lang="en-US" sz="1150" dirty="0"/>
          </a:p>
        </p:txBody>
      </p:sp>
      <p:sp>
        <p:nvSpPr>
          <p:cNvPr id="90" name="Text 11">
            <a:extLst>
              <a:ext uri="{FF2B5EF4-FFF2-40B4-BE49-F238E27FC236}">
                <a16:creationId xmlns:a16="http://schemas.microsoft.com/office/drawing/2014/main" id="{EAC2CBFC-A1D9-C969-6616-87E34EC5C76A}"/>
              </a:ext>
            </a:extLst>
          </p:cNvPr>
          <p:cNvSpPr/>
          <p:nvPr/>
        </p:nvSpPr>
        <p:spPr>
          <a:xfrm>
            <a:off x="-10511390" y="6105079"/>
            <a:ext cx="3703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226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Python for Data Science</a:t>
            </a:r>
            <a:endParaRPr lang="en-US" sz="1150" dirty="0"/>
          </a:p>
        </p:txBody>
      </p:sp>
      <p:sp>
        <p:nvSpPr>
          <p:cNvPr id="92" name="Text 12">
            <a:extLst>
              <a:ext uri="{FF2B5EF4-FFF2-40B4-BE49-F238E27FC236}">
                <a16:creationId xmlns:a16="http://schemas.microsoft.com/office/drawing/2014/main" id="{D7C65787-79F5-E66D-BBAE-D5FF4A1A30E5}"/>
              </a:ext>
            </a:extLst>
          </p:cNvPr>
          <p:cNvSpPr/>
          <p:nvPr/>
        </p:nvSpPr>
        <p:spPr>
          <a:xfrm>
            <a:off x="-6716630" y="6105079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1B7A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 hrs</a:t>
            </a:r>
            <a:endParaRPr lang="en-US" sz="1150" dirty="0"/>
          </a:p>
        </p:txBody>
      </p:sp>
      <p:sp>
        <p:nvSpPr>
          <p:cNvPr id="94" name="Text 13">
            <a:extLst>
              <a:ext uri="{FF2B5EF4-FFF2-40B4-BE49-F238E27FC236}">
                <a16:creationId xmlns:a16="http://schemas.microsoft.com/office/drawing/2014/main" id="{C70E4DF7-2C47-E74C-A354-FA62F5481A2C}"/>
              </a:ext>
            </a:extLst>
          </p:cNvPr>
          <p:cNvSpPr/>
          <p:nvPr/>
        </p:nvSpPr>
        <p:spPr>
          <a:xfrm>
            <a:off x="-10511390" y="6425119"/>
            <a:ext cx="3703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226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Analyzing Spreadsheet Data with Python</a:t>
            </a:r>
            <a:endParaRPr lang="en-US" sz="1150" dirty="0"/>
          </a:p>
        </p:txBody>
      </p:sp>
      <p:sp>
        <p:nvSpPr>
          <p:cNvPr id="96" name="Text 14">
            <a:extLst>
              <a:ext uri="{FF2B5EF4-FFF2-40B4-BE49-F238E27FC236}">
                <a16:creationId xmlns:a16="http://schemas.microsoft.com/office/drawing/2014/main" id="{BA173D3C-A126-6295-37DB-BC919897AEF7}"/>
              </a:ext>
            </a:extLst>
          </p:cNvPr>
          <p:cNvSpPr/>
          <p:nvPr/>
        </p:nvSpPr>
        <p:spPr>
          <a:xfrm>
            <a:off x="-6716630" y="6425119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1B7A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 hrs</a:t>
            </a:r>
            <a:endParaRPr lang="en-US" sz="1150" dirty="0"/>
          </a:p>
        </p:txBody>
      </p:sp>
      <p:sp>
        <p:nvSpPr>
          <p:cNvPr id="98" name="Text 15">
            <a:extLst>
              <a:ext uri="{FF2B5EF4-FFF2-40B4-BE49-F238E27FC236}">
                <a16:creationId xmlns:a16="http://schemas.microsoft.com/office/drawing/2014/main" id="{DEEE9176-AA87-2389-6B6C-F8D2DAA57A68}"/>
              </a:ext>
            </a:extLst>
          </p:cNvPr>
          <p:cNvSpPr/>
          <p:nvPr/>
        </p:nvSpPr>
        <p:spPr>
          <a:xfrm>
            <a:off x="-10511390" y="6745159"/>
            <a:ext cx="3703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226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Getting Started with Tableau Online</a:t>
            </a:r>
            <a:endParaRPr lang="en-US" sz="1150" dirty="0"/>
          </a:p>
        </p:txBody>
      </p:sp>
      <p:sp>
        <p:nvSpPr>
          <p:cNvPr id="100" name="Text 16">
            <a:extLst>
              <a:ext uri="{FF2B5EF4-FFF2-40B4-BE49-F238E27FC236}">
                <a16:creationId xmlns:a16="http://schemas.microsoft.com/office/drawing/2014/main" id="{2BFE618F-6372-E36F-296F-9970496495B4}"/>
              </a:ext>
            </a:extLst>
          </p:cNvPr>
          <p:cNvSpPr/>
          <p:nvPr/>
        </p:nvSpPr>
        <p:spPr>
          <a:xfrm>
            <a:off x="-6716630" y="6745159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1B7A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hr</a:t>
            </a:r>
            <a:endParaRPr lang="en-US" sz="1150" dirty="0"/>
          </a:p>
        </p:txBody>
      </p:sp>
      <p:sp>
        <p:nvSpPr>
          <p:cNvPr id="102" name="Text 17">
            <a:extLst>
              <a:ext uri="{FF2B5EF4-FFF2-40B4-BE49-F238E27FC236}">
                <a16:creationId xmlns:a16="http://schemas.microsoft.com/office/drawing/2014/main" id="{0C48E5C3-D4AE-5DB7-1D31-328E9BC5EA66}"/>
              </a:ext>
            </a:extLst>
          </p:cNvPr>
          <p:cNvSpPr/>
          <p:nvPr/>
        </p:nvSpPr>
        <p:spPr>
          <a:xfrm>
            <a:off x="-10511390" y="7065199"/>
            <a:ext cx="3703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226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Exploratory Data Analysis with Python</a:t>
            </a:r>
            <a:endParaRPr lang="en-US" sz="1150" dirty="0"/>
          </a:p>
        </p:txBody>
      </p:sp>
      <p:sp>
        <p:nvSpPr>
          <p:cNvPr id="104" name="Text 18">
            <a:extLst>
              <a:ext uri="{FF2B5EF4-FFF2-40B4-BE49-F238E27FC236}">
                <a16:creationId xmlns:a16="http://schemas.microsoft.com/office/drawing/2014/main" id="{2F9895D4-790C-0B13-6489-582DA6C1EA68}"/>
              </a:ext>
            </a:extLst>
          </p:cNvPr>
          <p:cNvSpPr/>
          <p:nvPr/>
        </p:nvSpPr>
        <p:spPr>
          <a:xfrm>
            <a:off x="-6716630" y="7065199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1B7A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hr</a:t>
            </a:r>
            <a:endParaRPr lang="en-US" sz="1150" dirty="0"/>
          </a:p>
        </p:txBody>
      </p:sp>
      <p:sp>
        <p:nvSpPr>
          <p:cNvPr id="106" name="Text 19">
            <a:extLst>
              <a:ext uri="{FF2B5EF4-FFF2-40B4-BE49-F238E27FC236}">
                <a16:creationId xmlns:a16="http://schemas.microsoft.com/office/drawing/2014/main" id="{E36F04B4-1215-727D-F6AD-11E5FEAE80AC}"/>
              </a:ext>
            </a:extLst>
          </p:cNvPr>
          <p:cNvSpPr/>
          <p:nvPr/>
        </p:nvSpPr>
        <p:spPr>
          <a:xfrm>
            <a:off x="-10511390" y="7385239"/>
            <a:ext cx="3703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226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Wrangling Using Python</a:t>
            </a:r>
            <a:endParaRPr lang="en-US" sz="1150" dirty="0"/>
          </a:p>
        </p:txBody>
      </p:sp>
      <p:sp>
        <p:nvSpPr>
          <p:cNvPr id="108" name="Text 20">
            <a:extLst>
              <a:ext uri="{FF2B5EF4-FFF2-40B4-BE49-F238E27FC236}">
                <a16:creationId xmlns:a16="http://schemas.microsoft.com/office/drawing/2014/main" id="{24E4E3F6-B165-73A1-9A3E-A84DF191637C}"/>
              </a:ext>
            </a:extLst>
          </p:cNvPr>
          <p:cNvSpPr/>
          <p:nvPr/>
        </p:nvSpPr>
        <p:spPr>
          <a:xfrm>
            <a:off x="-6716630" y="7385239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1B7A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hr</a:t>
            </a:r>
            <a:endParaRPr lang="en-US" sz="1150" dirty="0"/>
          </a:p>
        </p:txBody>
      </p:sp>
      <p:sp>
        <p:nvSpPr>
          <p:cNvPr id="110" name="Text 21">
            <a:extLst>
              <a:ext uri="{FF2B5EF4-FFF2-40B4-BE49-F238E27FC236}">
                <a16:creationId xmlns:a16="http://schemas.microsoft.com/office/drawing/2014/main" id="{3D8A3581-F2D7-A497-D529-1014EBCE2B40}"/>
              </a:ext>
            </a:extLst>
          </p:cNvPr>
          <p:cNvSpPr/>
          <p:nvPr/>
        </p:nvSpPr>
        <p:spPr>
          <a:xfrm>
            <a:off x="-10511390" y="7705279"/>
            <a:ext cx="3703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226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Creating Charts &amp; Dashboards using Tableau</a:t>
            </a:r>
            <a:endParaRPr lang="en-US" sz="1150" dirty="0"/>
          </a:p>
        </p:txBody>
      </p:sp>
      <p:sp>
        <p:nvSpPr>
          <p:cNvPr id="112" name="Text 22">
            <a:extLst>
              <a:ext uri="{FF2B5EF4-FFF2-40B4-BE49-F238E27FC236}">
                <a16:creationId xmlns:a16="http://schemas.microsoft.com/office/drawing/2014/main" id="{FD911CCD-4650-F7FB-3096-6EDE241E7FD1}"/>
              </a:ext>
            </a:extLst>
          </p:cNvPr>
          <p:cNvSpPr/>
          <p:nvPr/>
        </p:nvSpPr>
        <p:spPr>
          <a:xfrm>
            <a:off x="-6716630" y="7705279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1B7A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hr</a:t>
            </a:r>
            <a:endParaRPr lang="en-US" sz="1150" dirty="0"/>
          </a:p>
        </p:txBody>
      </p:sp>
      <p:sp>
        <p:nvSpPr>
          <p:cNvPr id="114" name="Shape 23">
            <a:extLst>
              <a:ext uri="{FF2B5EF4-FFF2-40B4-BE49-F238E27FC236}">
                <a16:creationId xmlns:a16="http://schemas.microsoft.com/office/drawing/2014/main" id="{491019B5-9AD1-C852-FB8F-B07D11ABD889}"/>
              </a:ext>
            </a:extLst>
          </p:cNvPr>
          <p:cNvSpPr/>
          <p:nvPr/>
        </p:nvSpPr>
        <p:spPr>
          <a:xfrm>
            <a:off x="-10511390" y="8043607"/>
            <a:ext cx="4480560" cy="0"/>
          </a:xfrm>
          <a:prstGeom prst="line">
            <a:avLst/>
          </a:prstGeom>
          <a:noFill/>
          <a:ln w="12700">
            <a:solidFill>
              <a:srgbClr val="D5DCD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6" name="Text 24">
            <a:extLst>
              <a:ext uri="{FF2B5EF4-FFF2-40B4-BE49-F238E27FC236}">
                <a16:creationId xmlns:a16="http://schemas.microsoft.com/office/drawing/2014/main" id="{80EF4041-EA94-3D34-02A3-AE153AB630D8}"/>
              </a:ext>
            </a:extLst>
          </p:cNvPr>
          <p:cNvSpPr/>
          <p:nvPr/>
        </p:nvSpPr>
        <p:spPr>
          <a:xfrm>
            <a:off x="-10511390" y="8116759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226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TOTAL</a:t>
            </a:r>
            <a:endParaRPr lang="en-US" sz="1300" dirty="0"/>
          </a:p>
        </p:txBody>
      </p:sp>
      <p:sp>
        <p:nvSpPr>
          <p:cNvPr id="118" name="Text 25">
            <a:extLst>
              <a:ext uri="{FF2B5EF4-FFF2-40B4-BE49-F238E27FC236}">
                <a16:creationId xmlns:a16="http://schemas.microsoft.com/office/drawing/2014/main" id="{4E4679A7-0EE2-08D3-E8A8-B16AC1FF78F1}"/>
              </a:ext>
            </a:extLst>
          </p:cNvPr>
          <p:cNvSpPr/>
          <p:nvPr/>
        </p:nvSpPr>
        <p:spPr>
          <a:xfrm>
            <a:off x="-6762350" y="8116759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D972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36 hrs</a:t>
            </a:r>
            <a:endParaRPr lang="en-US" sz="1300" dirty="0"/>
          </a:p>
        </p:txBody>
      </p:sp>
      <p:sp>
        <p:nvSpPr>
          <p:cNvPr id="120" name="Text 26">
            <a:extLst>
              <a:ext uri="{FF2B5EF4-FFF2-40B4-BE49-F238E27FC236}">
                <a16:creationId xmlns:a16="http://schemas.microsoft.com/office/drawing/2014/main" id="{3B4DF46F-D6A8-051C-F1EF-16236FC507F3}"/>
              </a:ext>
            </a:extLst>
          </p:cNvPr>
          <p:cNvSpPr/>
          <p:nvPr/>
        </p:nvSpPr>
        <p:spPr>
          <a:xfrm>
            <a:off x="-9866203" y="4719256"/>
            <a:ext cx="32171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150" dirty="0">
                <a:solidFill>
                  <a:srgbClr val="1B7A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VERIFIED CERTIFICATE</a:t>
            </a:r>
            <a:endParaRPr lang="en-US" sz="1600" dirty="0"/>
          </a:p>
        </p:txBody>
      </p:sp>
      <p:sp>
        <p:nvSpPr>
          <p:cNvPr id="122" name="Shape 27">
            <a:extLst>
              <a:ext uri="{FF2B5EF4-FFF2-40B4-BE49-F238E27FC236}">
                <a16:creationId xmlns:a16="http://schemas.microsoft.com/office/drawing/2014/main" id="{607E9312-6270-D4DB-D2E4-5C823661BB69}"/>
              </a:ext>
            </a:extLst>
          </p:cNvPr>
          <p:cNvSpPr/>
          <p:nvPr/>
        </p:nvSpPr>
        <p:spPr>
          <a:xfrm>
            <a:off x="-11223125" y="4689295"/>
            <a:ext cx="6035040" cy="4475708"/>
          </a:xfrm>
          <a:prstGeom prst="roundRect">
            <a:avLst>
              <a:gd name="adj" fmla="val 1905"/>
            </a:avLst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12700">
            <a:solidFill>
              <a:srgbClr val="DFE5E7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24" name="Text 29">
            <a:extLst>
              <a:ext uri="{FF2B5EF4-FFF2-40B4-BE49-F238E27FC236}">
                <a16:creationId xmlns:a16="http://schemas.microsoft.com/office/drawing/2014/main" id="{4604A601-4B74-A2CE-DE3B-FDBE3071E901}"/>
              </a:ext>
            </a:extLst>
          </p:cNvPr>
          <p:cNvSpPr/>
          <p:nvPr/>
        </p:nvSpPr>
        <p:spPr>
          <a:xfrm>
            <a:off x="36576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Hospital Billing &amp; Operations Analytics</a:t>
            </a:r>
            <a:endParaRPr lang="en-US" sz="900" dirty="0"/>
          </a:p>
        </p:txBody>
      </p:sp>
      <p:sp>
        <p:nvSpPr>
          <p:cNvPr id="126" name="Text 30">
            <a:extLst>
              <a:ext uri="{FF2B5EF4-FFF2-40B4-BE49-F238E27FC236}">
                <a16:creationId xmlns:a16="http://schemas.microsoft.com/office/drawing/2014/main" id="{C078CC63-F676-9719-C9AC-490B0B3C30E3}"/>
              </a:ext>
            </a:extLst>
          </p:cNvPr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A"/>
                </a:solidFill>
              </a:rPr>
              <a:t>2</a:t>
            </a:r>
            <a:endParaRPr lang="en-US" sz="900" dirty="0"/>
          </a:p>
        </p:txBody>
      </p:sp>
      <p:sp>
        <p:nvSpPr>
          <p:cNvPr id="128" name="Freeform: Shape 127">
            <a:extLst>
              <a:ext uri="{FF2B5EF4-FFF2-40B4-BE49-F238E27FC236}">
                <a16:creationId xmlns:a16="http://schemas.microsoft.com/office/drawing/2014/main" id="{22FFB6E3-FD25-E298-6657-5B5CD8293CCD}"/>
              </a:ext>
            </a:extLst>
          </p:cNvPr>
          <p:cNvSpPr/>
          <p:nvPr/>
        </p:nvSpPr>
        <p:spPr>
          <a:xfrm>
            <a:off x="914400" y="2785233"/>
            <a:ext cx="5554811" cy="1287532"/>
          </a:xfrm>
          <a:custGeom>
            <a:avLst/>
            <a:gdLst>
              <a:gd name="csX0" fmla="*/ 214593 w 7181870"/>
              <a:gd name="csY0" fmla="*/ 0 h 1287532"/>
              <a:gd name="csX1" fmla="*/ 5850059 w 7181870"/>
              <a:gd name="csY1" fmla="*/ 0 h 1287532"/>
              <a:gd name="csX2" fmla="*/ 5849974 w 7181870"/>
              <a:gd name="csY2" fmla="*/ 4383 h 1287532"/>
              <a:gd name="csX3" fmla="*/ 7173176 w 7181870"/>
              <a:gd name="csY3" fmla="*/ 458840 h 1287532"/>
              <a:gd name="csX4" fmla="*/ 5033091 w 7181870"/>
              <a:gd name="csY4" fmla="*/ 585300 h 1287532"/>
              <a:gd name="csX5" fmla="*/ 6205252 w 7181870"/>
              <a:gd name="csY5" fmla="*/ 1271710 h 1287532"/>
              <a:gd name="csX6" fmla="*/ 6222220 w 7181870"/>
              <a:gd name="csY6" fmla="*/ 1287532 h 1287532"/>
              <a:gd name="csX7" fmla="*/ 214593 w 7181870"/>
              <a:gd name="csY7" fmla="*/ 1287532 h 1287532"/>
              <a:gd name="csX8" fmla="*/ 0 w 7181870"/>
              <a:gd name="csY8" fmla="*/ 1072939 h 1287532"/>
              <a:gd name="csX9" fmla="*/ 0 w 7181870"/>
              <a:gd name="csY9" fmla="*/ 214593 h 1287532"/>
              <a:gd name="csX10" fmla="*/ 214593 w 7181870"/>
              <a:gd name="csY10" fmla="*/ 0 h 12875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7181870" h="1287532">
                <a:moveTo>
                  <a:pt x="214593" y="0"/>
                </a:moveTo>
                <a:lnTo>
                  <a:pt x="5850059" y="0"/>
                </a:lnTo>
                <a:lnTo>
                  <a:pt x="5849974" y="4383"/>
                </a:lnTo>
                <a:cubicBezTo>
                  <a:pt x="5892685" y="136374"/>
                  <a:pt x="7305107" y="363033"/>
                  <a:pt x="7173176" y="458840"/>
                </a:cubicBezTo>
                <a:cubicBezTo>
                  <a:pt x="7036989" y="557738"/>
                  <a:pt x="5216295" y="415066"/>
                  <a:pt x="5033091" y="585300"/>
                </a:cubicBezTo>
                <a:cubicBezTo>
                  <a:pt x="4901413" y="707656"/>
                  <a:pt x="5927235" y="1039400"/>
                  <a:pt x="6205252" y="1271710"/>
                </a:cubicBezTo>
                <a:lnTo>
                  <a:pt x="6222220" y="1287532"/>
                </a:lnTo>
                <a:lnTo>
                  <a:pt x="214593" y="1287532"/>
                </a:lnTo>
                <a:cubicBezTo>
                  <a:pt x="96077" y="1287532"/>
                  <a:pt x="0" y="1191455"/>
                  <a:pt x="0" y="1072939"/>
                </a:cubicBezTo>
                <a:lnTo>
                  <a:pt x="0" y="214593"/>
                </a:lnTo>
                <a:cubicBezTo>
                  <a:pt x="0" y="96077"/>
                  <a:pt x="96077" y="0"/>
                  <a:pt x="214593" y="0"/>
                </a:cubicBez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solidFill>
              <a:srgbClr val="DFE5E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r>
              <a:rPr lang="en-US" sz="2400" b="1" dirty="0">
                <a:solidFill>
                  <a:schemeClr val="tx1"/>
                </a:solidFill>
                <a:latin typeface="Garamond" panose="02020404030301010803" pitchFamily="18" charset="0"/>
                <a:ea typeface="Georgia" pitchFamily="34" charset="-122"/>
                <a:cs typeface="Georgia" pitchFamily="34" charset="-120"/>
              </a:rPr>
              <a:t>Training</a:t>
            </a:r>
          </a:p>
          <a:p>
            <a:r>
              <a:rPr lang="en-US" sz="2400" b="1" dirty="0">
                <a:solidFill>
                  <a:schemeClr val="tx1"/>
                </a:solidFill>
                <a:latin typeface="Garamond" panose="02020404030301010803" pitchFamily="18" charset="0"/>
                <a:ea typeface="Georgia" pitchFamily="34" charset="-122"/>
                <a:cs typeface="Georgia" pitchFamily="34" charset="-120"/>
              </a:rPr>
              <a:t>	Framework</a:t>
            </a:r>
            <a:endParaRPr lang="en-US" sz="2400" b="1" dirty="0">
              <a:solidFill>
                <a:schemeClr val="tx1"/>
              </a:solidFill>
              <a:latin typeface="Garamond" panose="02020404030301010803" pitchFamily="18" charset="0"/>
            </a:endParaRPr>
          </a:p>
        </p:txBody>
      </p:sp>
      <p:sp>
        <p:nvSpPr>
          <p:cNvPr id="130" name="Freeform: Shape 129">
            <a:extLst>
              <a:ext uri="{FF2B5EF4-FFF2-40B4-BE49-F238E27FC236}">
                <a16:creationId xmlns:a16="http://schemas.microsoft.com/office/drawing/2014/main" id="{905ED7AE-F03E-8627-07BD-A1A71CD9AA32}"/>
              </a:ext>
            </a:extLst>
          </p:cNvPr>
          <p:cNvSpPr/>
          <p:nvPr/>
        </p:nvSpPr>
        <p:spPr>
          <a:xfrm>
            <a:off x="5121704" y="2785233"/>
            <a:ext cx="5359621" cy="1287532"/>
          </a:xfrm>
          <a:custGeom>
            <a:avLst/>
            <a:gdLst>
              <a:gd name="csX0" fmla="*/ 828581 w 6499962"/>
              <a:gd name="csY0" fmla="*/ 0 h 1287532"/>
              <a:gd name="csX1" fmla="*/ 6285369 w 6499962"/>
              <a:gd name="csY1" fmla="*/ 0 h 1287532"/>
              <a:gd name="csX2" fmla="*/ 6499962 w 6499962"/>
              <a:gd name="csY2" fmla="*/ 214593 h 1287532"/>
              <a:gd name="csX3" fmla="*/ 6499962 w 6499962"/>
              <a:gd name="csY3" fmla="*/ 1072939 h 1287532"/>
              <a:gd name="csX4" fmla="*/ 6285369 w 6499962"/>
              <a:gd name="csY4" fmla="*/ 1287532 h 1287532"/>
              <a:gd name="csX5" fmla="*/ 1200742 w 6499962"/>
              <a:gd name="csY5" fmla="*/ 1287532 h 1287532"/>
              <a:gd name="csX6" fmla="*/ 1183774 w 6499962"/>
              <a:gd name="csY6" fmla="*/ 1271710 h 1287532"/>
              <a:gd name="csX7" fmla="*/ 11613 w 6499962"/>
              <a:gd name="csY7" fmla="*/ 585300 h 1287532"/>
              <a:gd name="csX8" fmla="*/ 2151698 w 6499962"/>
              <a:gd name="csY8" fmla="*/ 458840 h 1287532"/>
              <a:gd name="csX9" fmla="*/ 828496 w 6499962"/>
              <a:gd name="csY9" fmla="*/ 4383 h 1287532"/>
              <a:gd name="csX10" fmla="*/ 828581 w 6499962"/>
              <a:gd name="csY10" fmla="*/ 0 h 12875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6499962" h="1287532">
                <a:moveTo>
                  <a:pt x="828581" y="0"/>
                </a:moveTo>
                <a:lnTo>
                  <a:pt x="6285369" y="0"/>
                </a:lnTo>
                <a:cubicBezTo>
                  <a:pt x="6403885" y="0"/>
                  <a:pt x="6499962" y="96077"/>
                  <a:pt x="6499962" y="214593"/>
                </a:cubicBezTo>
                <a:lnTo>
                  <a:pt x="6499962" y="1072939"/>
                </a:lnTo>
                <a:cubicBezTo>
                  <a:pt x="6499962" y="1191455"/>
                  <a:pt x="6403885" y="1287532"/>
                  <a:pt x="6285369" y="1287532"/>
                </a:cubicBezTo>
                <a:lnTo>
                  <a:pt x="1200742" y="1287532"/>
                </a:lnTo>
                <a:lnTo>
                  <a:pt x="1183774" y="1271710"/>
                </a:lnTo>
                <a:cubicBezTo>
                  <a:pt x="905757" y="1039400"/>
                  <a:pt x="-120065" y="707656"/>
                  <a:pt x="11613" y="585300"/>
                </a:cubicBezTo>
                <a:cubicBezTo>
                  <a:pt x="194817" y="415066"/>
                  <a:pt x="2015511" y="557738"/>
                  <a:pt x="2151698" y="458840"/>
                </a:cubicBezTo>
                <a:cubicBezTo>
                  <a:pt x="2283629" y="363033"/>
                  <a:pt x="871207" y="136374"/>
                  <a:pt x="828496" y="4383"/>
                </a:cubicBezTo>
                <a:lnTo>
                  <a:pt x="828581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r>
              <a:rPr lang="en-US" sz="2800" b="1" dirty="0">
                <a:solidFill>
                  <a:schemeClr val="tx1"/>
                </a:solidFill>
                <a:latin typeface="Garamond" panose="02020404030301010803" pitchFamily="18" charset="0"/>
                <a:ea typeface="Georgia" pitchFamily="34" charset="-122"/>
                <a:cs typeface="Georgia" pitchFamily="34" charset="-120"/>
              </a:rPr>
              <a:t>		Certification Pathway 		&amp;Hours Logged</a:t>
            </a:r>
            <a:endParaRPr lang="en-US" sz="2800" b="1" dirty="0">
              <a:solidFill>
                <a:schemeClr val="tx1"/>
              </a:solidFill>
              <a:latin typeface="Garamond" panose="020204040303010108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790742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0">
            <a:extLst>
              <a:ext uri="{FF2B5EF4-FFF2-40B4-BE49-F238E27FC236}">
                <a16:creationId xmlns:a16="http://schemas.microsoft.com/office/drawing/2014/main" id="{3F198469-9840-20E3-2A64-FFC686D8C81C}"/>
              </a:ext>
            </a:extLst>
          </p:cNvPr>
          <p:cNvSpPr/>
          <p:nvPr/>
        </p:nvSpPr>
        <p:spPr>
          <a:xfrm>
            <a:off x="1" y="-45600"/>
            <a:ext cx="12192000" cy="6903600"/>
          </a:xfrm>
          <a:prstGeom prst="rect">
            <a:avLst/>
          </a:prstGeom>
          <a:solidFill>
            <a:srgbClr val="0C1C2B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4" name="Text 2"/>
          <p:cNvSpPr/>
          <p:nvPr/>
        </p:nvSpPr>
        <p:spPr>
          <a:xfrm>
            <a:off x="175416" y="1526021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B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36 total tracked hours across two certification blocks - exceeding the 30-hour college requirement.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2481081"/>
            <a:ext cx="5204616" cy="3768448"/>
          </a:xfrm>
          <a:prstGeom prst="roundRect">
            <a:avLst>
              <a:gd name="adj" fmla="val 1739"/>
            </a:avLst>
          </a:prstGeom>
          <a:solidFill>
            <a:srgbClr val="EFF3F4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9" name="Shape 7"/>
          <p:cNvSpPr/>
          <p:nvPr/>
        </p:nvSpPr>
        <p:spPr>
          <a:xfrm>
            <a:off x="655009" y="2788968"/>
            <a:ext cx="4480560" cy="0"/>
          </a:xfrm>
          <a:prstGeom prst="line">
            <a:avLst/>
          </a:prstGeom>
          <a:noFill/>
          <a:ln w="12700">
            <a:solidFill>
              <a:srgbClr val="D5DCD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594360" y="3000305"/>
            <a:ext cx="4572000" cy="3703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kern="0" spc="100" dirty="0">
                <a:solidFill>
                  <a:srgbClr val="D972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COURSE 1 </a:t>
            </a:r>
            <a:r>
              <a:rPr lang="en-US" sz="2800" b="1" kern="0" spc="100" dirty="0">
                <a:solidFill>
                  <a:srgbClr val="D972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-</a:t>
            </a:r>
            <a:r>
              <a:rPr lang="en-US" sz="1100" b="1" kern="0" spc="100" dirty="0">
                <a:solidFill>
                  <a:srgbClr val="D972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sz="1400" b="1" kern="0" spc="100" dirty="0">
                <a:solidFill>
                  <a:srgbClr val="D972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IBM DATA ANALYST PATH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" y="3507798"/>
            <a:ext cx="3703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226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SQL and Relational Databases 101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617720" y="3507798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1B7A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 hrs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822960" y="3827838"/>
            <a:ext cx="3703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226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Python for Data Science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617720" y="3827838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1B7A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 hrs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22960" y="4147878"/>
            <a:ext cx="3703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226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Analyzing Spreadsheet Data with Python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617720" y="4147878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1B7A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 hrs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822960" y="4467918"/>
            <a:ext cx="3703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226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Getting Started with Tableau Online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617720" y="4467918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1B7A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hr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822960" y="4787958"/>
            <a:ext cx="3703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226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Exploratory Data Analysis with Python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617720" y="4787958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1B7A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hr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822960" y="5107998"/>
            <a:ext cx="3703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226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Wrangling Using Python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617720" y="5107998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1B7A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hr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822960" y="5428038"/>
            <a:ext cx="3703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226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Creating Charts &amp; Dashboards using Tableau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617720" y="5428038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1B7A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hr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822960" y="5766366"/>
            <a:ext cx="4480560" cy="0"/>
          </a:xfrm>
          <a:prstGeom prst="line">
            <a:avLst/>
          </a:prstGeom>
          <a:noFill/>
          <a:ln w="12700">
            <a:solidFill>
              <a:srgbClr val="D5DCD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822960" y="583951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226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TOTAL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572000" y="5839518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D972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36 hrs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460757" y="1688840"/>
            <a:ext cx="32171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150" dirty="0">
                <a:solidFill>
                  <a:srgbClr val="1B7A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VERIFIED CERTIFICATE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5852160" y="2066765"/>
            <a:ext cx="6035040" cy="4475708"/>
          </a:xfrm>
          <a:prstGeom prst="roundRect">
            <a:avLst>
              <a:gd name="adj" fmla="val 1905"/>
            </a:avLst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12700">
            <a:solidFill>
              <a:srgbClr val="DFE5E7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33" name="Text 29"/>
          <p:cNvSpPr/>
          <p:nvPr/>
        </p:nvSpPr>
        <p:spPr>
          <a:xfrm>
            <a:off x="36576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Hospital Billing &amp; Operations Analytics</a:t>
            </a:r>
            <a:endParaRPr lang="en-US" sz="900" dirty="0"/>
          </a:p>
        </p:txBody>
      </p:sp>
      <p:sp>
        <p:nvSpPr>
          <p:cNvPr id="34" name="Text 30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A"/>
                </a:solidFill>
              </a:rPr>
              <a:t>2</a:t>
            </a:r>
            <a:endParaRPr lang="en-US" sz="900" dirty="0"/>
          </a:p>
        </p:txBody>
      </p:sp>
      <p:sp>
        <p:nvSpPr>
          <p:cNvPr id="69" name="Freeform: Shape 68">
            <a:extLst>
              <a:ext uri="{FF2B5EF4-FFF2-40B4-BE49-F238E27FC236}">
                <a16:creationId xmlns:a16="http://schemas.microsoft.com/office/drawing/2014/main" id="{CD51C930-78FC-7A38-922A-4BBA9B7BA5A0}"/>
              </a:ext>
            </a:extLst>
          </p:cNvPr>
          <p:cNvSpPr/>
          <p:nvPr/>
        </p:nvSpPr>
        <p:spPr>
          <a:xfrm>
            <a:off x="175416" y="134547"/>
            <a:ext cx="5165790" cy="1287532"/>
          </a:xfrm>
          <a:custGeom>
            <a:avLst/>
            <a:gdLst>
              <a:gd name="csX0" fmla="*/ 214593 w 7181870"/>
              <a:gd name="csY0" fmla="*/ 0 h 1287532"/>
              <a:gd name="csX1" fmla="*/ 5850059 w 7181870"/>
              <a:gd name="csY1" fmla="*/ 0 h 1287532"/>
              <a:gd name="csX2" fmla="*/ 5849974 w 7181870"/>
              <a:gd name="csY2" fmla="*/ 4383 h 1287532"/>
              <a:gd name="csX3" fmla="*/ 7173176 w 7181870"/>
              <a:gd name="csY3" fmla="*/ 458840 h 1287532"/>
              <a:gd name="csX4" fmla="*/ 5033091 w 7181870"/>
              <a:gd name="csY4" fmla="*/ 585300 h 1287532"/>
              <a:gd name="csX5" fmla="*/ 6205252 w 7181870"/>
              <a:gd name="csY5" fmla="*/ 1271710 h 1287532"/>
              <a:gd name="csX6" fmla="*/ 6222220 w 7181870"/>
              <a:gd name="csY6" fmla="*/ 1287532 h 1287532"/>
              <a:gd name="csX7" fmla="*/ 214593 w 7181870"/>
              <a:gd name="csY7" fmla="*/ 1287532 h 1287532"/>
              <a:gd name="csX8" fmla="*/ 0 w 7181870"/>
              <a:gd name="csY8" fmla="*/ 1072939 h 1287532"/>
              <a:gd name="csX9" fmla="*/ 0 w 7181870"/>
              <a:gd name="csY9" fmla="*/ 214593 h 1287532"/>
              <a:gd name="csX10" fmla="*/ 214593 w 7181870"/>
              <a:gd name="csY10" fmla="*/ 0 h 12875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7181870" h="1287532">
                <a:moveTo>
                  <a:pt x="214593" y="0"/>
                </a:moveTo>
                <a:lnTo>
                  <a:pt x="5850059" y="0"/>
                </a:lnTo>
                <a:lnTo>
                  <a:pt x="5849974" y="4383"/>
                </a:lnTo>
                <a:cubicBezTo>
                  <a:pt x="5892685" y="136374"/>
                  <a:pt x="7305107" y="363033"/>
                  <a:pt x="7173176" y="458840"/>
                </a:cubicBezTo>
                <a:cubicBezTo>
                  <a:pt x="7036989" y="557738"/>
                  <a:pt x="5216295" y="415066"/>
                  <a:pt x="5033091" y="585300"/>
                </a:cubicBezTo>
                <a:cubicBezTo>
                  <a:pt x="4901413" y="707656"/>
                  <a:pt x="5927235" y="1039400"/>
                  <a:pt x="6205252" y="1271710"/>
                </a:cubicBezTo>
                <a:lnTo>
                  <a:pt x="6222220" y="1287532"/>
                </a:lnTo>
                <a:lnTo>
                  <a:pt x="214593" y="1287532"/>
                </a:lnTo>
                <a:cubicBezTo>
                  <a:pt x="96077" y="1287532"/>
                  <a:pt x="0" y="1191455"/>
                  <a:pt x="0" y="1072939"/>
                </a:cubicBezTo>
                <a:lnTo>
                  <a:pt x="0" y="214593"/>
                </a:lnTo>
                <a:cubicBezTo>
                  <a:pt x="0" y="96077"/>
                  <a:pt x="96077" y="0"/>
                  <a:pt x="214593" y="0"/>
                </a:cubicBez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r>
              <a:rPr lang="en-US" sz="2400" b="1" dirty="0">
                <a:solidFill>
                  <a:schemeClr val="tx1"/>
                </a:solidFill>
                <a:latin typeface="Garamond" panose="02020404030301010803" pitchFamily="18" charset="0"/>
                <a:ea typeface="Georgia" pitchFamily="34" charset="-122"/>
                <a:cs typeface="Georgia" pitchFamily="34" charset="-120"/>
              </a:rPr>
              <a:t>Training</a:t>
            </a:r>
          </a:p>
          <a:p>
            <a:r>
              <a:rPr lang="en-US" sz="2400" b="1" dirty="0">
                <a:solidFill>
                  <a:schemeClr val="tx1"/>
                </a:solidFill>
                <a:latin typeface="Garamond" panose="02020404030301010803" pitchFamily="18" charset="0"/>
                <a:ea typeface="Georgia" pitchFamily="34" charset="-122"/>
                <a:cs typeface="Georgia" pitchFamily="34" charset="-120"/>
              </a:rPr>
              <a:t>	Framework</a:t>
            </a:r>
            <a:endParaRPr lang="en-US" sz="2400" b="1" dirty="0">
              <a:solidFill>
                <a:schemeClr val="tx1"/>
              </a:solidFill>
              <a:latin typeface="Garamond" panose="02020404030301010803" pitchFamily="18" charset="0"/>
            </a:endParaRPr>
          </a:p>
        </p:txBody>
      </p:sp>
      <p:sp>
        <p:nvSpPr>
          <p:cNvPr id="67" name="Freeform: Shape 66">
            <a:extLst>
              <a:ext uri="{FF2B5EF4-FFF2-40B4-BE49-F238E27FC236}">
                <a16:creationId xmlns:a16="http://schemas.microsoft.com/office/drawing/2014/main" id="{165A9241-9A70-4CF9-BC90-F73317C76259}"/>
              </a:ext>
            </a:extLst>
          </p:cNvPr>
          <p:cNvSpPr/>
          <p:nvPr/>
        </p:nvSpPr>
        <p:spPr>
          <a:xfrm>
            <a:off x="5516622" y="134547"/>
            <a:ext cx="6499962" cy="1287532"/>
          </a:xfrm>
          <a:custGeom>
            <a:avLst/>
            <a:gdLst>
              <a:gd name="csX0" fmla="*/ 828581 w 6499962"/>
              <a:gd name="csY0" fmla="*/ 0 h 1287532"/>
              <a:gd name="csX1" fmla="*/ 6285369 w 6499962"/>
              <a:gd name="csY1" fmla="*/ 0 h 1287532"/>
              <a:gd name="csX2" fmla="*/ 6499962 w 6499962"/>
              <a:gd name="csY2" fmla="*/ 214593 h 1287532"/>
              <a:gd name="csX3" fmla="*/ 6499962 w 6499962"/>
              <a:gd name="csY3" fmla="*/ 1072939 h 1287532"/>
              <a:gd name="csX4" fmla="*/ 6285369 w 6499962"/>
              <a:gd name="csY4" fmla="*/ 1287532 h 1287532"/>
              <a:gd name="csX5" fmla="*/ 1200742 w 6499962"/>
              <a:gd name="csY5" fmla="*/ 1287532 h 1287532"/>
              <a:gd name="csX6" fmla="*/ 1183774 w 6499962"/>
              <a:gd name="csY6" fmla="*/ 1271710 h 1287532"/>
              <a:gd name="csX7" fmla="*/ 11613 w 6499962"/>
              <a:gd name="csY7" fmla="*/ 585300 h 1287532"/>
              <a:gd name="csX8" fmla="*/ 2151698 w 6499962"/>
              <a:gd name="csY8" fmla="*/ 458840 h 1287532"/>
              <a:gd name="csX9" fmla="*/ 828496 w 6499962"/>
              <a:gd name="csY9" fmla="*/ 4383 h 1287532"/>
              <a:gd name="csX10" fmla="*/ 828581 w 6499962"/>
              <a:gd name="csY10" fmla="*/ 0 h 12875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6499962" h="1287532">
                <a:moveTo>
                  <a:pt x="828581" y="0"/>
                </a:moveTo>
                <a:lnTo>
                  <a:pt x="6285369" y="0"/>
                </a:lnTo>
                <a:cubicBezTo>
                  <a:pt x="6403885" y="0"/>
                  <a:pt x="6499962" y="96077"/>
                  <a:pt x="6499962" y="214593"/>
                </a:cubicBezTo>
                <a:lnTo>
                  <a:pt x="6499962" y="1072939"/>
                </a:lnTo>
                <a:cubicBezTo>
                  <a:pt x="6499962" y="1191455"/>
                  <a:pt x="6403885" y="1287532"/>
                  <a:pt x="6285369" y="1287532"/>
                </a:cubicBezTo>
                <a:lnTo>
                  <a:pt x="1200742" y="1287532"/>
                </a:lnTo>
                <a:lnTo>
                  <a:pt x="1183774" y="1271710"/>
                </a:lnTo>
                <a:cubicBezTo>
                  <a:pt x="905757" y="1039400"/>
                  <a:pt x="-120065" y="707656"/>
                  <a:pt x="11613" y="585300"/>
                </a:cubicBezTo>
                <a:cubicBezTo>
                  <a:pt x="194817" y="415066"/>
                  <a:pt x="2015511" y="557738"/>
                  <a:pt x="2151698" y="458840"/>
                </a:cubicBezTo>
                <a:cubicBezTo>
                  <a:pt x="2283629" y="363033"/>
                  <a:pt x="871207" y="136374"/>
                  <a:pt x="828496" y="4383"/>
                </a:cubicBezTo>
                <a:lnTo>
                  <a:pt x="828581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r>
              <a:rPr lang="en-US" sz="2800" b="1" dirty="0">
                <a:solidFill>
                  <a:schemeClr val="tx1"/>
                </a:solidFill>
                <a:latin typeface="Garamond" panose="02020404030301010803" pitchFamily="18" charset="0"/>
                <a:ea typeface="Georgia" pitchFamily="34" charset="-122"/>
                <a:cs typeface="Georgia" pitchFamily="34" charset="-120"/>
              </a:rPr>
              <a:t>			Certification Pathway 			&amp; Hours Logged</a:t>
            </a:r>
            <a:endParaRPr lang="en-US" sz="2800" b="1" dirty="0">
              <a:solidFill>
                <a:schemeClr val="tx1"/>
              </a:solidFill>
              <a:latin typeface="Garamond" panose="02020404030301010803" pitchFamily="18" charset="0"/>
            </a:endParaRPr>
          </a:p>
        </p:txBody>
      </p:sp>
      <p:sp>
        <p:nvSpPr>
          <p:cNvPr id="75" name="Text 4">
            <a:extLst>
              <a:ext uri="{FF2B5EF4-FFF2-40B4-BE49-F238E27FC236}">
                <a16:creationId xmlns:a16="http://schemas.microsoft.com/office/drawing/2014/main" id="{A1FA422D-C845-C968-3BA6-95B3F00630AE}"/>
              </a:ext>
            </a:extLst>
          </p:cNvPr>
          <p:cNvSpPr/>
          <p:nvPr/>
        </p:nvSpPr>
        <p:spPr>
          <a:xfrm>
            <a:off x="-4091940" y="2813879"/>
            <a:ext cx="4572000" cy="37285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b="1" kern="0" spc="100" dirty="0">
                <a:solidFill>
                  <a:srgbClr val="D972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COURSE</a:t>
            </a:r>
            <a:r>
              <a:rPr lang="en-US" b="1" kern="0" spc="100" dirty="0">
                <a:solidFill>
                  <a:srgbClr val="1B7A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b="1" kern="0" spc="100" dirty="0">
                <a:solidFill>
                  <a:schemeClr val="accent2">
                    <a:lumMod val="75000"/>
                  </a:scheme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 </a:t>
            </a:r>
            <a:r>
              <a:rPr lang="en-US" sz="2800" b="1" kern="0" spc="100" dirty="0">
                <a:solidFill>
                  <a:schemeClr val="accent2">
                    <a:lumMod val="75000"/>
                  </a:scheme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-</a:t>
            </a:r>
            <a:r>
              <a:rPr lang="en-US" sz="1100" b="1" kern="0" spc="100" dirty="0">
                <a:solidFill>
                  <a:schemeClr val="accent2">
                    <a:lumMod val="75000"/>
                  </a:scheme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sz="1400" b="1" kern="0" spc="100" dirty="0">
                <a:solidFill>
                  <a:schemeClr val="accent2">
                    <a:lumMod val="75000"/>
                  </a:scheme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MS EXCEL</a:t>
            </a:r>
            <a:endParaRPr lang="en-US" sz="1400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0">
            <a:extLst>
              <a:ext uri="{FF2B5EF4-FFF2-40B4-BE49-F238E27FC236}">
                <a16:creationId xmlns:a16="http://schemas.microsoft.com/office/drawing/2014/main" id="{FAAF331D-CF45-B92F-BDB0-9A64763C4D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C1C2B"/>
          </a:solidFill>
          <a:ln/>
        </p:spPr>
        <p:txBody>
          <a:bodyPr/>
          <a:lstStyle/>
          <a:p>
            <a:endParaRPr lang="en-IN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Shape 3">
            <a:extLst>
              <a:ext uri="{FF2B5EF4-FFF2-40B4-BE49-F238E27FC236}">
                <a16:creationId xmlns:a16="http://schemas.microsoft.com/office/drawing/2014/main" id="{83373A6C-ED8C-0722-8020-5AC9E7F4CC82}"/>
              </a:ext>
            </a:extLst>
          </p:cNvPr>
          <p:cNvSpPr/>
          <p:nvPr/>
        </p:nvSpPr>
        <p:spPr>
          <a:xfrm>
            <a:off x="211805" y="2432304"/>
            <a:ext cx="4572000" cy="1794463"/>
          </a:xfrm>
          <a:prstGeom prst="roundRect">
            <a:avLst>
              <a:gd name="adj" fmla="val 1739"/>
            </a:avLst>
          </a:prstGeom>
          <a:solidFill>
            <a:srgbClr val="EFF3F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4">
            <a:extLst>
              <a:ext uri="{FF2B5EF4-FFF2-40B4-BE49-F238E27FC236}">
                <a16:creationId xmlns:a16="http://schemas.microsoft.com/office/drawing/2014/main" id="{83B8CB65-C28D-D5ED-EBC2-C25C4BC8E225}"/>
              </a:ext>
            </a:extLst>
          </p:cNvPr>
          <p:cNvSpPr/>
          <p:nvPr/>
        </p:nvSpPr>
        <p:spPr>
          <a:xfrm>
            <a:off x="418478" y="2724911"/>
            <a:ext cx="4572000" cy="37285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b="1" kern="0" spc="100" dirty="0">
                <a:solidFill>
                  <a:srgbClr val="D972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COURSE</a:t>
            </a:r>
            <a:r>
              <a:rPr lang="en-US" b="1" kern="0" spc="100" dirty="0">
                <a:solidFill>
                  <a:srgbClr val="1B7A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b="1" kern="0" spc="100" dirty="0">
                <a:solidFill>
                  <a:schemeClr val="accent2">
                    <a:lumMod val="75000"/>
                  </a:scheme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 </a:t>
            </a:r>
            <a:r>
              <a:rPr lang="en-US" sz="2800" b="1" kern="0" spc="100" dirty="0">
                <a:solidFill>
                  <a:schemeClr val="accent2">
                    <a:lumMod val="75000"/>
                  </a:scheme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-</a:t>
            </a:r>
            <a:r>
              <a:rPr lang="en-US" sz="1100" b="1" kern="0" spc="100" dirty="0">
                <a:solidFill>
                  <a:schemeClr val="accent2">
                    <a:lumMod val="75000"/>
                  </a:scheme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sz="1400" b="1" kern="0" spc="100" dirty="0">
                <a:solidFill>
                  <a:schemeClr val="accent2">
                    <a:lumMod val="75000"/>
                  </a:scheme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MS EXCEL</a:t>
            </a:r>
            <a:endParaRPr lang="en-US" sz="14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1C7FF207-A9D3-D64D-4D1B-74BFC47F7B98}"/>
              </a:ext>
            </a:extLst>
          </p:cNvPr>
          <p:cNvSpPr/>
          <p:nvPr/>
        </p:nvSpPr>
        <p:spPr>
          <a:xfrm>
            <a:off x="347099" y="3307795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226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Introduction to MS Excel - Simplilearn</a:t>
            </a:r>
            <a:endParaRPr lang="en-US" sz="1250"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98A03421-F3E3-C9F3-F18E-B0CE44745F7C}"/>
              </a:ext>
            </a:extLst>
          </p:cNvPr>
          <p:cNvSpPr/>
          <p:nvPr/>
        </p:nvSpPr>
        <p:spPr>
          <a:xfrm>
            <a:off x="3845612" y="3322071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B7A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 hrs</a:t>
            </a:r>
            <a:endParaRPr lang="en-US" sz="1300" dirty="0"/>
          </a:p>
        </p:txBody>
      </p:sp>
      <p:sp>
        <p:nvSpPr>
          <p:cNvPr id="11" name="Shape 27">
            <a:extLst>
              <a:ext uri="{FF2B5EF4-FFF2-40B4-BE49-F238E27FC236}">
                <a16:creationId xmlns:a16="http://schemas.microsoft.com/office/drawing/2014/main" id="{797B8017-CFBA-D0F2-0756-334B19629336}"/>
              </a:ext>
            </a:extLst>
          </p:cNvPr>
          <p:cNvSpPr/>
          <p:nvPr/>
        </p:nvSpPr>
        <p:spPr>
          <a:xfrm>
            <a:off x="5852160" y="1940301"/>
            <a:ext cx="6035040" cy="4475708"/>
          </a:xfrm>
          <a:prstGeom prst="roundRect">
            <a:avLst>
              <a:gd name="adj" fmla="val 1905"/>
            </a:avLst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12700">
            <a:solidFill>
              <a:srgbClr val="DFE5E7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3" name="Text 26">
            <a:extLst>
              <a:ext uri="{FF2B5EF4-FFF2-40B4-BE49-F238E27FC236}">
                <a16:creationId xmlns:a16="http://schemas.microsoft.com/office/drawing/2014/main" id="{296AAEB1-6AF5-D271-E913-93D06CDC38EF}"/>
              </a:ext>
            </a:extLst>
          </p:cNvPr>
          <p:cNvSpPr/>
          <p:nvPr/>
        </p:nvSpPr>
        <p:spPr>
          <a:xfrm>
            <a:off x="5852160" y="1616995"/>
            <a:ext cx="5760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150" dirty="0">
                <a:solidFill>
                  <a:srgbClr val="1B7A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VERIFIED CERTIFICATE</a:t>
            </a:r>
            <a:endParaRPr lang="en-US" sz="1600" dirty="0"/>
          </a:p>
        </p:txBody>
      </p:sp>
      <p:sp>
        <p:nvSpPr>
          <p:cNvPr id="15" name="Shape 7">
            <a:extLst>
              <a:ext uri="{FF2B5EF4-FFF2-40B4-BE49-F238E27FC236}">
                <a16:creationId xmlns:a16="http://schemas.microsoft.com/office/drawing/2014/main" id="{5FE912AC-BC11-E213-1A7F-87B099776338}"/>
              </a:ext>
            </a:extLst>
          </p:cNvPr>
          <p:cNvSpPr/>
          <p:nvPr/>
        </p:nvSpPr>
        <p:spPr>
          <a:xfrm>
            <a:off x="304800" y="3745587"/>
            <a:ext cx="4257869" cy="0"/>
          </a:xfrm>
          <a:prstGeom prst="line">
            <a:avLst/>
          </a:prstGeom>
          <a:noFill/>
          <a:ln w="12700">
            <a:solidFill>
              <a:srgbClr val="D5DCD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6">
            <a:extLst>
              <a:ext uri="{FF2B5EF4-FFF2-40B4-BE49-F238E27FC236}">
                <a16:creationId xmlns:a16="http://schemas.microsoft.com/office/drawing/2014/main" id="{1DF044FE-BD54-B4AF-273A-AD0752387EF8}"/>
              </a:ext>
            </a:extLst>
          </p:cNvPr>
          <p:cNvSpPr/>
          <p:nvPr/>
        </p:nvSpPr>
        <p:spPr>
          <a:xfrm>
            <a:off x="36576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Hospital Billing &amp; Operations Analytics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327158714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1B7A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BRIEF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226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Dataset &amp; Problem Statement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1064240" cy="1234440"/>
          </a:xfrm>
          <a:prstGeom prst="roundRect">
            <a:avLst>
              <a:gd name="adj" fmla="val 4444"/>
            </a:avLst>
          </a:prstGeom>
          <a:solidFill>
            <a:srgbClr val="EFF3F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22960" y="1627632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D972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 STATEMENT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" y="1901952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226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Raw hospital billing logs contain blanks, duplicate records, and unformatted columns. This project builds a clean data pipeline to optimize resource loads and track revenue across clinical wings.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2880360"/>
            <a:ext cx="11064240" cy="1051560"/>
          </a:xfrm>
          <a:prstGeom prst="roundRect">
            <a:avLst>
              <a:gd name="adj" fmla="val 5217"/>
            </a:avLst>
          </a:prstGeom>
          <a:solidFill>
            <a:srgbClr val="12263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822960" y="303580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B7A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DATASET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329184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Healthcare Dataset by Prasad Patil - Kaggle  |  ~55,000 patient records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361188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FD8D2"/>
                </a:solidFill>
                <a:latin typeface="Georgia" pitchFamily="34" charset="0"/>
                <a:ea typeface="Georgia" pitchFamily="34" charset="-122"/>
                <a:cs typeface="Georgia" pitchFamily="34" charset="-120"/>
                <a:hlinkClick r:id="rId3" action="ppaction://hlinkfile"/>
              </a:rPr>
              <a:t>kaggle.com/datasets/prasad22/healthcare-dataset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48640" y="4160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B7A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COLUMNS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448056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B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-  Name, Age, Gender, Blood Type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126480" y="448056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B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-  Medical Condition, Test Results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" y="493776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B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-  Date of Admission, Discharge Date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126480" y="493776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B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-  Doctor, Hospital, Insurance Provider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539496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B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-  Billing Amount, Room Number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126480" y="539496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B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-  Admission Type, Medication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6576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Hospital Billing &amp; Operations Analytics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A"/>
                </a:solidFill>
              </a:rPr>
              <a:t>3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621792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226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Cleaning the Raw CSV in Python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B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cleaning_data.py - removes duplicates, handles nulls, standardizes column names and text, fixes date types, then saves a clean CSV checkpoint.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132062" y="1865376"/>
            <a:ext cx="5924827" cy="4818888"/>
          </a:xfrm>
          <a:prstGeom prst="roundRect">
            <a:avLst>
              <a:gd name="adj" fmla="val 949"/>
            </a:avLst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6" name="Image 0" descr="/home/claude/ppt_assets/code_clean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86926" y="1920240"/>
            <a:ext cx="5815099" cy="47091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6576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Hospital Billing &amp; Operations Analytics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A"/>
                </a:solidFill>
              </a:rPr>
              <a:t>4</a:t>
            </a:r>
            <a:endParaRPr lang="en-US" sz="900" dirty="0"/>
          </a:p>
        </p:txBody>
      </p:sp>
      <p:sp>
        <p:nvSpPr>
          <p:cNvPr id="10" name="Text 0">
            <a:extLst>
              <a:ext uri="{FF2B5EF4-FFF2-40B4-BE49-F238E27FC236}">
                <a16:creationId xmlns:a16="http://schemas.microsoft.com/office/drawing/2014/main" id="{CAAA36CA-8374-59EB-B95B-8ADC02415853}"/>
              </a:ext>
            </a:extLst>
          </p:cNvPr>
          <p:cNvSpPr/>
          <p:nvPr/>
        </p:nvSpPr>
        <p:spPr>
          <a:xfrm>
            <a:off x="4579464" y="55984"/>
            <a:ext cx="221322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u="sng" kern="0" spc="200" dirty="0">
                <a:solidFill>
                  <a:srgbClr val="1B7A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TASK 1 :-</a:t>
            </a:r>
            <a:endParaRPr lang="en-US" sz="2800" u="sng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621792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226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Loading Clean Data into MySQL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B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load_csv_to_MySql.py - connects to MySQL, creates the database/table schema, then inserts all cleaned rows via executemany().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49290" y="1923279"/>
            <a:ext cx="4306618" cy="4468190"/>
          </a:xfrm>
          <a:prstGeom prst="roundRect">
            <a:avLst>
              <a:gd name="adj" fmla="val 1201"/>
            </a:avLst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6" name="Image 0" descr="/home/claude/ppt_assets/code_loadmysql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290" y="1937054"/>
            <a:ext cx="4306617" cy="4454415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510772" y="1773936"/>
            <a:ext cx="7255129" cy="3074838"/>
          </a:xfrm>
          <a:prstGeom prst="roundRect">
            <a:avLst>
              <a:gd name="adj" fmla="val 1566"/>
            </a:avLst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8" name="Image 1" descr="/home/claude/ppt_assets/code_loadmysql_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10773" y="1797515"/>
            <a:ext cx="7152492" cy="3074838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4510773" y="4954650"/>
            <a:ext cx="7255128" cy="1336036"/>
          </a:xfrm>
          <a:prstGeom prst="roundRect">
            <a:avLst>
              <a:gd name="adj" fmla="val 5431"/>
            </a:avLst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0" name="Image 2" descr="/home/claude/ppt_assets/code_termin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10773" y="4954650"/>
            <a:ext cx="7152492" cy="123016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4510772" y="6290686"/>
            <a:ext cx="5760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1B7A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54,966 clean rows successfully inserted</a:t>
            </a:r>
            <a:endParaRPr lang="en-US" sz="1100" dirty="0"/>
          </a:p>
        </p:txBody>
      </p:sp>
      <p:sp>
        <p:nvSpPr>
          <p:cNvPr id="12" name="Text 7"/>
          <p:cNvSpPr/>
          <p:nvPr/>
        </p:nvSpPr>
        <p:spPr>
          <a:xfrm>
            <a:off x="36576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Hospital Billing &amp; Operations Analytics</a:t>
            </a:r>
            <a:endParaRPr lang="en-US" sz="900" dirty="0"/>
          </a:p>
        </p:txBody>
      </p:sp>
      <p:sp>
        <p:nvSpPr>
          <p:cNvPr id="13" name="Text 8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A"/>
                </a:solidFill>
              </a:rPr>
              <a:t>5</a:t>
            </a:r>
            <a:endParaRPr lang="en-US" sz="900" dirty="0"/>
          </a:p>
        </p:txBody>
      </p:sp>
      <p:sp>
        <p:nvSpPr>
          <p:cNvPr id="17" name="Text 0">
            <a:extLst>
              <a:ext uri="{FF2B5EF4-FFF2-40B4-BE49-F238E27FC236}">
                <a16:creationId xmlns:a16="http://schemas.microsoft.com/office/drawing/2014/main" id="{6A460CAD-04B2-E8DB-5703-A8334F433096}"/>
              </a:ext>
            </a:extLst>
          </p:cNvPr>
          <p:cNvSpPr/>
          <p:nvPr/>
        </p:nvSpPr>
        <p:spPr>
          <a:xfrm>
            <a:off x="4579464" y="55984"/>
            <a:ext cx="221322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u="sng" kern="0" spc="200" dirty="0">
                <a:solidFill>
                  <a:srgbClr val="1B7A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TASK 2 :-</a:t>
            </a:r>
            <a:endParaRPr lang="en-US" sz="2800" u="sng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621792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226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Reading MySQL Data Back into Python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B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load_data_MysqlToPython.py - mysql.connector pulls live records from patient_records, proving the DB is genuinely queried, not just written to once.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51481" y="1911096"/>
            <a:ext cx="6685990" cy="4681728"/>
          </a:xfrm>
          <a:prstGeom prst="roundRect">
            <a:avLst>
              <a:gd name="adj" fmla="val 977"/>
            </a:avLst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6" name="Image 0" descr="/home/claude/ppt_assets/code_fet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06345" y="1965960"/>
            <a:ext cx="6576262" cy="45720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6576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Hospital Billing &amp; Operations Analytics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A"/>
                </a:solidFill>
              </a:rPr>
              <a:t>6</a:t>
            </a:r>
            <a:endParaRPr lang="en-US" sz="900" dirty="0"/>
          </a:p>
        </p:txBody>
      </p:sp>
      <p:sp>
        <p:nvSpPr>
          <p:cNvPr id="10" name="Text 0">
            <a:extLst>
              <a:ext uri="{FF2B5EF4-FFF2-40B4-BE49-F238E27FC236}">
                <a16:creationId xmlns:a16="http://schemas.microsoft.com/office/drawing/2014/main" id="{CF3CE3E8-3482-9ACB-FF15-8DC8D8E73493}"/>
              </a:ext>
            </a:extLst>
          </p:cNvPr>
          <p:cNvSpPr/>
          <p:nvPr/>
        </p:nvSpPr>
        <p:spPr>
          <a:xfrm>
            <a:off x="4579464" y="55984"/>
            <a:ext cx="221322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u="sng" kern="0" spc="200" dirty="0">
                <a:solidFill>
                  <a:srgbClr val="1B7A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TASK 3 :-</a:t>
            </a:r>
            <a:endParaRPr lang="en-US" sz="2800" u="sng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9464" y="55984"/>
            <a:ext cx="221322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u="sng" kern="0" spc="200" dirty="0">
                <a:solidFill>
                  <a:srgbClr val="1B7A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TASK 4 :-</a:t>
            </a:r>
            <a:endParaRPr lang="en-US" sz="2800" u="sng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226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Generating Charts with Matplotlib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B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matplotlib_charts.py - pulls each summary directly from MySQL via pd.read_sql(), then plots and saves 4 verification charts.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755649"/>
            <a:ext cx="4740118" cy="4736592"/>
          </a:xfrm>
          <a:prstGeom prst="roundRect">
            <a:avLst>
              <a:gd name="adj" fmla="val 2321"/>
            </a:avLst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6" name="Image 0" descr="/home/claude/ppt_assets/code_matplot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59" y="1819470"/>
            <a:ext cx="4458167" cy="4525346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36576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Hospital Billing &amp; Operations Analytics</a:t>
            </a:r>
            <a:endParaRPr lang="en-US" sz="900" dirty="0"/>
          </a:p>
        </p:txBody>
      </p:sp>
      <p:sp>
        <p:nvSpPr>
          <p:cNvPr id="14" name="Text 8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A"/>
                </a:solidFill>
              </a:rPr>
              <a:t>7</a:t>
            </a:r>
            <a:endParaRPr lang="en-US" sz="900" dirty="0"/>
          </a:p>
        </p:txBody>
      </p:sp>
      <p:sp>
        <p:nvSpPr>
          <p:cNvPr id="16" name="Shape 3">
            <a:extLst>
              <a:ext uri="{FF2B5EF4-FFF2-40B4-BE49-F238E27FC236}">
                <a16:creationId xmlns:a16="http://schemas.microsoft.com/office/drawing/2014/main" id="{B5C53A26-0690-F811-0EFD-26FB5D6506C4}"/>
              </a:ext>
            </a:extLst>
          </p:cNvPr>
          <p:cNvSpPr/>
          <p:nvPr/>
        </p:nvSpPr>
        <p:spPr>
          <a:xfrm>
            <a:off x="6080760" y="2048256"/>
            <a:ext cx="5257800" cy="4187952"/>
          </a:xfrm>
          <a:prstGeom prst="roundRect">
            <a:avLst>
              <a:gd name="adj" fmla="val 1818"/>
            </a:avLst>
          </a:prstGeom>
          <a:solidFill>
            <a:srgbClr val="F7F9FA"/>
          </a:solidFill>
          <a:ln w="12700">
            <a:solidFill>
              <a:srgbClr val="DFE5E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8" name="Image 0" descr="/home/claude/ppt_assets/chart1_age.png">
            <a:extLst>
              <a:ext uri="{FF2B5EF4-FFF2-40B4-BE49-F238E27FC236}">
                <a16:creationId xmlns:a16="http://schemas.microsoft.com/office/drawing/2014/main" id="{0C786888-C57D-E57A-A3E3-B7D2A9BDFB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2599602"/>
            <a:ext cx="5074920" cy="3428347"/>
          </a:xfrm>
          <a:prstGeom prst="rect">
            <a:avLst/>
          </a:prstGeom>
        </p:spPr>
      </p:pic>
      <p:sp>
        <p:nvSpPr>
          <p:cNvPr id="22" name="Text 4">
            <a:extLst>
              <a:ext uri="{FF2B5EF4-FFF2-40B4-BE49-F238E27FC236}">
                <a16:creationId xmlns:a16="http://schemas.microsoft.com/office/drawing/2014/main" id="{10A3A19F-17AF-1E74-D743-3C119D3FE474}"/>
              </a:ext>
            </a:extLst>
          </p:cNvPr>
          <p:cNvSpPr/>
          <p:nvPr/>
        </p:nvSpPr>
        <p:spPr>
          <a:xfrm>
            <a:off x="6263640" y="1773936"/>
            <a:ext cx="5074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u="sng" dirty="0">
                <a:solidFill>
                  <a:srgbClr val="1226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Patient Count by Age Group</a:t>
            </a:r>
            <a:endParaRPr lang="en-US" sz="1050" u="sng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4">
            <a:extLst>
              <a:ext uri="{FF2B5EF4-FFF2-40B4-BE49-F238E27FC236}">
                <a16:creationId xmlns:a16="http://schemas.microsoft.com/office/drawing/2014/main" id="{548334E7-0808-C2FE-F03A-F48743CDB79C}"/>
              </a:ext>
            </a:extLst>
          </p:cNvPr>
          <p:cNvSpPr/>
          <p:nvPr/>
        </p:nvSpPr>
        <p:spPr>
          <a:xfrm>
            <a:off x="330136" y="1082352"/>
            <a:ext cx="5100279" cy="5355770"/>
          </a:xfrm>
          <a:prstGeom prst="roundRect">
            <a:avLst>
              <a:gd name="adj" fmla="val 2024"/>
            </a:avLst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" name="Image 1" descr="/home/claude/ppt_assets/code_matplot_2.png">
            <a:extLst>
              <a:ext uri="{FF2B5EF4-FFF2-40B4-BE49-F238E27FC236}">
                <a16:creationId xmlns:a16="http://schemas.microsoft.com/office/drawing/2014/main" id="{925DB46E-FC28-A6E5-1D20-572B3957E1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016" y="1390261"/>
            <a:ext cx="4572167" cy="4544008"/>
          </a:xfrm>
          <a:prstGeom prst="rect">
            <a:avLst/>
          </a:prstGeom>
        </p:spPr>
      </p:pic>
      <p:sp>
        <p:nvSpPr>
          <p:cNvPr id="7" name="Shape 5">
            <a:extLst>
              <a:ext uri="{FF2B5EF4-FFF2-40B4-BE49-F238E27FC236}">
                <a16:creationId xmlns:a16="http://schemas.microsoft.com/office/drawing/2014/main" id="{64C9CADC-9C18-35D2-F163-414026871306}"/>
              </a:ext>
            </a:extLst>
          </p:cNvPr>
          <p:cNvSpPr/>
          <p:nvPr/>
        </p:nvSpPr>
        <p:spPr>
          <a:xfrm>
            <a:off x="5687940" y="1707502"/>
            <a:ext cx="6248569" cy="4523479"/>
          </a:xfrm>
          <a:prstGeom prst="roundRect">
            <a:avLst>
              <a:gd name="adj" fmla="val 1818"/>
            </a:avLst>
          </a:prstGeom>
          <a:solidFill>
            <a:srgbClr val="F7F9FA"/>
          </a:solidFill>
          <a:ln w="12700">
            <a:solidFill>
              <a:srgbClr val="DFE5E7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pic>
        <p:nvPicPr>
          <p:cNvPr id="9" name="Image 1" descr="/home/claude/ppt_assets/chart2_trend.png">
            <a:extLst>
              <a:ext uri="{FF2B5EF4-FFF2-40B4-BE49-F238E27FC236}">
                <a16:creationId xmlns:a16="http://schemas.microsoft.com/office/drawing/2014/main" id="{CCF9B60D-953D-4D40-D6AD-49328B85EC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6440" y="2286000"/>
            <a:ext cx="5872544" cy="3648269"/>
          </a:xfrm>
          <a:prstGeom prst="rect">
            <a:avLst/>
          </a:prstGeom>
        </p:spPr>
      </p:pic>
      <p:sp>
        <p:nvSpPr>
          <p:cNvPr id="11" name="Text 6">
            <a:extLst>
              <a:ext uri="{FF2B5EF4-FFF2-40B4-BE49-F238E27FC236}">
                <a16:creationId xmlns:a16="http://schemas.microsoft.com/office/drawing/2014/main" id="{64D3DA77-D3FA-E147-9826-655738CCDFD1}"/>
              </a:ext>
            </a:extLst>
          </p:cNvPr>
          <p:cNvSpPr/>
          <p:nvPr/>
        </p:nvSpPr>
        <p:spPr>
          <a:xfrm>
            <a:off x="6205252" y="1433182"/>
            <a:ext cx="5074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u="sng" dirty="0">
                <a:solidFill>
                  <a:srgbClr val="1226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Monthly Admissions Trend</a:t>
            </a:r>
            <a:endParaRPr lang="en-US" sz="1050" u="sng" dirty="0"/>
          </a:p>
        </p:txBody>
      </p:sp>
      <p:sp>
        <p:nvSpPr>
          <p:cNvPr id="13" name="Text 16">
            <a:extLst>
              <a:ext uri="{FF2B5EF4-FFF2-40B4-BE49-F238E27FC236}">
                <a16:creationId xmlns:a16="http://schemas.microsoft.com/office/drawing/2014/main" id="{398AED16-479B-962A-227C-211A3FE97DF3}"/>
              </a:ext>
            </a:extLst>
          </p:cNvPr>
          <p:cNvSpPr/>
          <p:nvPr/>
        </p:nvSpPr>
        <p:spPr>
          <a:xfrm>
            <a:off x="36576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Hospital Billing &amp; Operations Analytics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291545118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5">
            <a:extLst>
              <a:ext uri="{FF2B5EF4-FFF2-40B4-BE49-F238E27FC236}">
                <a16:creationId xmlns:a16="http://schemas.microsoft.com/office/drawing/2014/main" id="{F01C60FC-C1B6-E14A-5744-BF49F815DF4F}"/>
              </a:ext>
            </a:extLst>
          </p:cNvPr>
          <p:cNvSpPr/>
          <p:nvPr/>
        </p:nvSpPr>
        <p:spPr>
          <a:xfrm>
            <a:off x="255410" y="1250302"/>
            <a:ext cx="5504688" cy="4292082"/>
          </a:xfrm>
          <a:prstGeom prst="roundRect">
            <a:avLst>
              <a:gd name="adj" fmla="val 2307"/>
            </a:avLst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" name="Image 2" descr="/home/claude/ppt_assets/code_matplot_3.png">
            <a:extLst>
              <a:ext uri="{FF2B5EF4-FFF2-40B4-BE49-F238E27FC236}">
                <a16:creationId xmlns:a16="http://schemas.microsoft.com/office/drawing/2014/main" id="{18A21CA3-D66C-C0F2-1463-56780445F6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274" y="1819470"/>
            <a:ext cx="5394960" cy="3452326"/>
          </a:xfrm>
          <a:prstGeom prst="rect">
            <a:avLst/>
          </a:prstGeom>
        </p:spPr>
      </p:pic>
      <p:sp>
        <p:nvSpPr>
          <p:cNvPr id="13" name="Shape 7">
            <a:extLst>
              <a:ext uri="{FF2B5EF4-FFF2-40B4-BE49-F238E27FC236}">
                <a16:creationId xmlns:a16="http://schemas.microsoft.com/office/drawing/2014/main" id="{8AF80A49-14E1-E80B-18F0-3E3FDB2C97CD}"/>
              </a:ext>
            </a:extLst>
          </p:cNvPr>
          <p:cNvSpPr/>
          <p:nvPr/>
        </p:nvSpPr>
        <p:spPr>
          <a:xfrm>
            <a:off x="6385560" y="1250302"/>
            <a:ext cx="5257800" cy="4618653"/>
          </a:xfrm>
          <a:prstGeom prst="roundRect">
            <a:avLst>
              <a:gd name="adj" fmla="val 1818"/>
            </a:avLst>
          </a:prstGeom>
          <a:solidFill>
            <a:srgbClr val="F7F9FA"/>
          </a:solidFill>
          <a:ln w="12700">
            <a:solidFill>
              <a:srgbClr val="DFE5E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1" name="Image 2" descr="/home/claude/ppt_assets/chart3_condition.png">
            <a:extLst>
              <a:ext uri="{FF2B5EF4-FFF2-40B4-BE49-F238E27FC236}">
                <a16:creationId xmlns:a16="http://schemas.microsoft.com/office/drawing/2014/main" id="{0B6C8B1A-DE85-E1D3-3B84-2D21F038A9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0" y="1660847"/>
            <a:ext cx="5074920" cy="4208108"/>
          </a:xfrm>
          <a:prstGeom prst="rect">
            <a:avLst/>
          </a:prstGeom>
        </p:spPr>
      </p:pic>
      <p:sp>
        <p:nvSpPr>
          <p:cNvPr id="15" name="Text 8">
            <a:extLst>
              <a:ext uri="{FF2B5EF4-FFF2-40B4-BE49-F238E27FC236}">
                <a16:creationId xmlns:a16="http://schemas.microsoft.com/office/drawing/2014/main" id="{C466A757-23DD-A850-B170-1A8986E46CC1}"/>
              </a:ext>
            </a:extLst>
          </p:cNvPr>
          <p:cNvSpPr/>
          <p:nvPr/>
        </p:nvSpPr>
        <p:spPr>
          <a:xfrm>
            <a:off x="6781489" y="1011811"/>
            <a:ext cx="5074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226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Patient Share by Condition</a:t>
            </a:r>
            <a:endParaRPr lang="en-US" sz="1050" dirty="0"/>
          </a:p>
        </p:txBody>
      </p:sp>
      <p:sp>
        <p:nvSpPr>
          <p:cNvPr id="17" name="Text 16">
            <a:extLst>
              <a:ext uri="{FF2B5EF4-FFF2-40B4-BE49-F238E27FC236}">
                <a16:creationId xmlns:a16="http://schemas.microsoft.com/office/drawing/2014/main" id="{999EECCE-0323-E891-E752-8723BD547EF5}"/>
              </a:ext>
            </a:extLst>
          </p:cNvPr>
          <p:cNvSpPr/>
          <p:nvPr/>
        </p:nvSpPr>
        <p:spPr>
          <a:xfrm>
            <a:off x="36576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Hospital Billing &amp; Operations Analytics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184632354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6">
            <a:extLst>
              <a:ext uri="{FF2B5EF4-FFF2-40B4-BE49-F238E27FC236}">
                <a16:creationId xmlns:a16="http://schemas.microsoft.com/office/drawing/2014/main" id="{38382B90-7264-9529-89F9-6A69E31B0777}"/>
              </a:ext>
            </a:extLst>
          </p:cNvPr>
          <p:cNvSpPr/>
          <p:nvPr/>
        </p:nvSpPr>
        <p:spPr>
          <a:xfrm>
            <a:off x="518932" y="1380931"/>
            <a:ext cx="5314171" cy="4506685"/>
          </a:xfrm>
          <a:prstGeom prst="roundRect">
            <a:avLst>
              <a:gd name="adj" fmla="val 2024"/>
            </a:avLst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pic>
        <p:nvPicPr>
          <p:cNvPr id="5" name="Image 3" descr="/home/claude/ppt_assets/code_matplot_4.png">
            <a:extLst>
              <a:ext uri="{FF2B5EF4-FFF2-40B4-BE49-F238E27FC236}">
                <a16:creationId xmlns:a16="http://schemas.microsoft.com/office/drawing/2014/main" id="{87BC5321-A474-954D-4A60-95C4626C54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795" y="1847462"/>
            <a:ext cx="5204443" cy="3797558"/>
          </a:xfrm>
          <a:prstGeom prst="rect">
            <a:avLst/>
          </a:prstGeom>
        </p:spPr>
      </p:pic>
      <p:sp>
        <p:nvSpPr>
          <p:cNvPr id="9" name="Shape 9">
            <a:extLst>
              <a:ext uri="{FF2B5EF4-FFF2-40B4-BE49-F238E27FC236}">
                <a16:creationId xmlns:a16="http://schemas.microsoft.com/office/drawing/2014/main" id="{8F5997A7-65BB-A3EA-4F26-F42A17115781}"/>
              </a:ext>
            </a:extLst>
          </p:cNvPr>
          <p:cNvSpPr/>
          <p:nvPr/>
        </p:nvSpPr>
        <p:spPr>
          <a:xfrm>
            <a:off x="6096000" y="1380931"/>
            <a:ext cx="5257800" cy="4506685"/>
          </a:xfrm>
          <a:prstGeom prst="roundRect">
            <a:avLst>
              <a:gd name="adj" fmla="val 1818"/>
            </a:avLst>
          </a:prstGeom>
          <a:solidFill>
            <a:srgbClr val="F7F9FA"/>
          </a:solidFill>
          <a:ln w="12700">
            <a:solidFill>
              <a:srgbClr val="DFE5E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7" name="Image 3" descr="/home/claude/ppt_assets/chart4_insurance.png">
            <a:extLst>
              <a:ext uri="{FF2B5EF4-FFF2-40B4-BE49-F238E27FC236}">
                <a16:creationId xmlns:a16="http://schemas.microsoft.com/office/drawing/2014/main" id="{44411875-F201-9520-090A-7B51DF8743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4093" y="1847462"/>
            <a:ext cx="4749904" cy="3797558"/>
          </a:xfrm>
          <a:prstGeom prst="rect">
            <a:avLst/>
          </a:prstGeom>
        </p:spPr>
      </p:pic>
      <p:sp>
        <p:nvSpPr>
          <p:cNvPr id="13" name="Text 10">
            <a:extLst>
              <a:ext uri="{FF2B5EF4-FFF2-40B4-BE49-F238E27FC236}">
                <a16:creationId xmlns:a16="http://schemas.microsoft.com/office/drawing/2014/main" id="{BACB79F6-C024-9CBC-001A-5D0A51DA75F1}"/>
              </a:ext>
            </a:extLst>
          </p:cNvPr>
          <p:cNvSpPr/>
          <p:nvPr/>
        </p:nvSpPr>
        <p:spPr>
          <a:xfrm>
            <a:off x="6358899" y="1106611"/>
            <a:ext cx="5074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226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Claims Share by Insurance Provider</a:t>
            </a:r>
            <a:endParaRPr lang="en-US" sz="1050" dirty="0"/>
          </a:p>
        </p:txBody>
      </p:sp>
      <p:sp>
        <p:nvSpPr>
          <p:cNvPr id="15" name="Text 16">
            <a:extLst>
              <a:ext uri="{FF2B5EF4-FFF2-40B4-BE49-F238E27FC236}">
                <a16:creationId xmlns:a16="http://schemas.microsoft.com/office/drawing/2014/main" id="{FC66EAD8-0329-33D8-4792-5020DCBA8A8F}"/>
              </a:ext>
            </a:extLst>
          </p:cNvPr>
          <p:cNvSpPr/>
          <p:nvPr/>
        </p:nvSpPr>
        <p:spPr>
          <a:xfrm>
            <a:off x="36576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Hospital Billing &amp; Operations Analytics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48254226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1">
            <a:extLst>
              <a:ext uri="{FF2B5EF4-FFF2-40B4-BE49-F238E27FC236}">
                <a16:creationId xmlns:a16="http://schemas.microsoft.com/office/drawing/2014/main" id="{27748FF5-726D-13F6-755F-AB75C30F8DD8}"/>
              </a:ext>
            </a:extLst>
          </p:cNvPr>
          <p:cNvSpPr/>
          <p:nvPr/>
        </p:nvSpPr>
        <p:spPr>
          <a:xfrm>
            <a:off x="548640" y="621792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226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Excel: Building the Reporting Layer</a:t>
            </a:r>
            <a:endParaRPr lang="en-US" sz="2700" dirty="0"/>
          </a:p>
        </p:txBody>
      </p:sp>
      <p:sp>
        <p:nvSpPr>
          <p:cNvPr id="12" name="Text 2">
            <a:extLst>
              <a:ext uri="{FF2B5EF4-FFF2-40B4-BE49-F238E27FC236}">
                <a16:creationId xmlns:a16="http://schemas.microsoft.com/office/drawing/2014/main" id="{22C90C1E-73B8-7D2A-4941-3853E22A3CA2}"/>
              </a:ext>
            </a:extLst>
          </p:cNvPr>
          <p:cNvSpPr/>
          <p:nvPr/>
        </p:nvSpPr>
        <p:spPr>
          <a:xfrm>
            <a:off x="548640" y="1325880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B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Cleaned data from MySQL is exported into Excel, where it's structured into a formatted table, then summarized through Pivot Tables and their charts.</a:t>
            </a:r>
            <a:endParaRPr lang="en-US" sz="1300" dirty="0"/>
          </a:p>
        </p:txBody>
      </p:sp>
      <p:sp>
        <p:nvSpPr>
          <p:cNvPr id="14" name="Shape 3">
            <a:extLst>
              <a:ext uri="{FF2B5EF4-FFF2-40B4-BE49-F238E27FC236}">
                <a16:creationId xmlns:a16="http://schemas.microsoft.com/office/drawing/2014/main" id="{1905836B-76C9-748B-4FE6-ED64294FA561}"/>
              </a:ext>
            </a:extLst>
          </p:cNvPr>
          <p:cNvSpPr/>
          <p:nvPr/>
        </p:nvSpPr>
        <p:spPr>
          <a:xfrm>
            <a:off x="548640" y="1965960"/>
            <a:ext cx="11064240" cy="1417320"/>
          </a:xfrm>
          <a:prstGeom prst="roundRect">
            <a:avLst>
              <a:gd name="adj" fmla="val 3871"/>
            </a:avLst>
          </a:prstGeom>
          <a:solidFill>
            <a:srgbClr val="12263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4">
            <a:extLst>
              <a:ext uri="{FF2B5EF4-FFF2-40B4-BE49-F238E27FC236}">
                <a16:creationId xmlns:a16="http://schemas.microsoft.com/office/drawing/2014/main" id="{2E7B3F0B-E95C-07F0-8E80-7D115C301598}"/>
              </a:ext>
            </a:extLst>
          </p:cNvPr>
          <p:cNvSpPr/>
          <p:nvPr/>
        </p:nvSpPr>
        <p:spPr>
          <a:xfrm>
            <a:off x="822960" y="2130552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B7A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WAS BUILT</a:t>
            </a:r>
            <a:endParaRPr lang="en-US" sz="1100" dirty="0"/>
          </a:p>
        </p:txBody>
      </p:sp>
      <p:sp>
        <p:nvSpPr>
          <p:cNvPr id="18" name="Text 5">
            <a:extLst>
              <a:ext uri="{FF2B5EF4-FFF2-40B4-BE49-F238E27FC236}">
                <a16:creationId xmlns:a16="http://schemas.microsoft.com/office/drawing/2014/main" id="{A0D2EAFD-F047-24D4-CCA3-807FC033B54E}"/>
              </a:ext>
            </a:extLst>
          </p:cNvPr>
          <p:cNvSpPr/>
          <p:nvPr/>
        </p:nvSpPr>
        <p:spPr>
          <a:xfrm>
            <a:off x="822960" y="24231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Hospital_Clean_Report.xlsx  --  the cleaned dataset is loaded into a structured Excel Table (with headers, banding, and frozen top row), forming the base layer for all reporting that follows.</a:t>
            </a:r>
            <a:endParaRPr lang="en-US" sz="1300" dirty="0"/>
          </a:p>
        </p:txBody>
      </p:sp>
      <p:sp>
        <p:nvSpPr>
          <p:cNvPr id="20" name="Text 6">
            <a:hlinkClick r:id="rId2"/>
            <a:extLst>
              <a:ext uri="{FF2B5EF4-FFF2-40B4-BE49-F238E27FC236}">
                <a16:creationId xmlns:a16="http://schemas.microsoft.com/office/drawing/2014/main" id="{B72E01A8-5ACA-C22E-CECB-200D01C3D228}"/>
              </a:ext>
            </a:extLst>
          </p:cNvPr>
          <p:cNvSpPr/>
          <p:nvPr/>
        </p:nvSpPr>
        <p:spPr>
          <a:xfrm>
            <a:off x="822960" y="2999232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u="sng" dirty="0">
                <a:solidFill>
                  <a:srgbClr val="9FD8D2"/>
                </a:solidFill>
                <a:latin typeface="Georgia" pitchFamily="34" charset="0"/>
                <a:ea typeface="Georgia" pitchFamily="34" charset="-122"/>
                <a:cs typeface="Georgia" pitchFamily="34" charset="-12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View file: cleaned_healthcare_dataset_with_pivot.xlsx</a:t>
            </a:r>
            <a:endParaRPr lang="en-US" sz="1150" dirty="0"/>
          </a:p>
        </p:txBody>
      </p:sp>
      <p:sp>
        <p:nvSpPr>
          <p:cNvPr id="22" name="Text 7">
            <a:extLst>
              <a:ext uri="{FF2B5EF4-FFF2-40B4-BE49-F238E27FC236}">
                <a16:creationId xmlns:a16="http://schemas.microsoft.com/office/drawing/2014/main" id="{A540A446-7A53-C810-6808-829FB168150B}"/>
              </a:ext>
            </a:extLst>
          </p:cNvPr>
          <p:cNvSpPr/>
          <p:nvPr/>
        </p:nvSpPr>
        <p:spPr>
          <a:xfrm>
            <a:off x="548640" y="37033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B7A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PIVOT TABLES &amp; CHARTS BUILT</a:t>
            </a:r>
            <a:endParaRPr lang="en-US" sz="1100" dirty="0"/>
          </a:p>
        </p:txBody>
      </p:sp>
      <p:sp>
        <p:nvSpPr>
          <p:cNvPr id="24" name="Shape 8">
            <a:extLst>
              <a:ext uri="{FF2B5EF4-FFF2-40B4-BE49-F238E27FC236}">
                <a16:creationId xmlns:a16="http://schemas.microsoft.com/office/drawing/2014/main" id="{C8344DA4-CC48-7C45-0F77-DB1552C68BF9}"/>
              </a:ext>
            </a:extLst>
          </p:cNvPr>
          <p:cNvSpPr/>
          <p:nvPr/>
        </p:nvSpPr>
        <p:spPr>
          <a:xfrm>
            <a:off x="548640" y="4023360"/>
            <a:ext cx="3566160" cy="1965960"/>
          </a:xfrm>
          <a:prstGeom prst="roundRect">
            <a:avLst>
              <a:gd name="adj" fmla="val 3256"/>
            </a:avLst>
          </a:prstGeom>
          <a:solidFill>
            <a:srgbClr val="12263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Shape 9">
            <a:extLst>
              <a:ext uri="{FF2B5EF4-FFF2-40B4-BE49-F238E27FC236}">
                <a16:creationId xmlns:a16="http://schemas.microsoft.com/office/drawing/2014/main" id="{C957F89E-AB01-1A1A-047B-57370F4C45A8}"/>
              </a:ext>
            </a:extLst>
          </p:cNvPr>
          <p:cNvSpPr/>
          <p:nvPr/>
        </p:nvSpPr>
        <p:spPr>
          <a:xfrm>
            <a:off x="777240" y="4251960"/>
            <a:ext cx="457200" cy="457200"/>
          </a:xfrm>
          <a:prstGeom prst="ellipse">
            <a:avLst/>
          </a:prstGeom>
          <a:solidFill>
            <a:srgbClr val="1B7A7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10">
            <a:extLst>
              <a:ext uri="{FF2B5EF4-FFF2-40B4-BE49-F238E27FC236}">
                <a16:creationId xmlns:a16="http://schemas.microsoft.com/office/drawing/2014/main" id="{6218512A-873D-3104-7B9C-7A05F4228ADB}"/>
              </a:ext>
            </a:extLst>
          </p:cNvPr>
          <p:cNvSpPr/>
          <p:nvPr/>
        </p:nvSpPr>
        <p:spPr>
          <a:xfrm>
            <a:off x="777240" y="4251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30" name="Text 11">
            <a:extLst>
              <a:ext uri="{FF2B5EF4-FFF2-40B4-BE49-F238E27FC236}">
                <a16:creationId xmlns:a16="http://schemas.microsoft.com/office/drawing/2014/main" id="{D754F329-4194-9217-D472-E53BF31F8B93}"/>
              </a:ext>
            </a:extLst>
          </p:cNvPr>
          <p:cNvSpPr/>
          <p:nvPr/>
        </p:nvSpPr>
        <p:spPr>
          <a:xfrm>
            <a:off x="777240" y="482803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D972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Pivot_Condition</a:t>
            </a:r>
            <a:endParaRPr lang="en-US" sz="1450" dirty="0"/>
          </a:p>
        </p:txBody>
      </p:sp>
      <p:sp>
        <p:nvSpPr>
          <p:cNvPr id="32" name="Text 12">
            <a:extLst>
              <a:ext uri="{FF2B5EF4-FFF2-40B4-BE49-F238E27FC236}">
                <a16:creationId xmlns:a16="http://schemas.microsoft.com/office/drawing/2014/main" id="{8FA31984-17E8-95E6-F549-472D993C2958}"/>
              </a:ext>
            </a:extLst>
          </p:cNvPr>
          <p:cNvSpPr/>
          <p:nvPr/>
        </p:nvSpPr>
        <p:spPr>
          <a:xfrm>
            <a:off x="777240" y="5193792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4D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Avg. billing &amp; patient count by medical condition, visualized as a column chart</a:t>
            </a:r>
            <a:endParaRPr lang="en-US" sz="1100" dirty="0"/>
          </a:p>
        </p:txBody>
      </p:sp>
      <p:sp>
        <p:nvSpPr>
          <p:cNvPr id="34" name="Shape 13">
            <a:extLst>
              <a:ext uri="{FF2B5EF4-FFF2-40B4-BE49-F238E27FC236}">
                <a16:creationId xmlns:a16="http://schemas.microsoft.com/office/drawing/2014/main" id="{EB75ACCB-554E-1971-C727-6D82755C1724}"/>
              </a:ext>
            </a:extLst>
          </p:cNvPr>
          <p:cNvSpPr/>
          <p:nvPr/>
        </p:nvSpPr>
        <p:spPr>
          <a:xfrm>
            <a:off x="4297680" y="4023360"/>
            <a:ext cx="3566160" cy="1965960"/>
          </a:xfrm>
          <a:prstGeom prst="roundRect">
            <a:avLst>
              <a:gd name="adj" fmla="val 3256"/>
            </a:avLst>
          </a:prstGeom>
          <a:solidFill>
            <a:srgbClr val="12263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6" name="Shape 14">
            <a:extLst>
              <a:ext uri="{FF2B5EF4-FFF2-40B4-BE49-F238E27FC236}">
                <a16:creationId xmlns:a16="http://schemas.microsoft.com/office/drawing/2014/main" id="{F78E599A-AEB1-F468-F840-C47E79B8333D}"/>
              </a:ext>
            </a:extLst>
          </p:cNvPr>
          <p:cNvSpPr/>
          <p:nvPr/>
        </p:nvSpPr>
        <p:spPr>
          <a:xfrm>
            <a:off x="4526280" y="4251960"/>
            <a:ext cx="457200" cy="457200"/>
          </a:xfrm>
          <a:prstGeom prst="ellipse">
            <a:avLst/>
          </a:prstGeom>
          <a:solidFill>
            <a:srgbClr val="1B7A7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8" name="Text 15">
            <a:extLst>
              <a:ext uri="{FF2B5EF4-FFF2-40B4-BE49-F238E27FC236}">
                <a16:creationId xmlns:a16="http://schemas.microsoft.com/office/drawing/2014/main" id="{651F4C4B-106B-1218-6F4B-59B149F0870C}"/>
              </a:ext>
            </a:extLst>
          </p:cNvPr>
          <p:cNvSpPr/>
          <p:nvPr/>
        </p:nvSpPr>
        <p:spPr>
          <a:xfrm>
            <a:off x="4526280" y="4251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40" name="Text 16">
            <a:extLst>
              <a:ext uri="{FF2B5EF4-FFF2-40B4-BE49-F238E27FC236}">
                <a16:creationId xmlns:a16="http://schemas.microsoft.com/office/drawing/2014/main" id="{A559B7DD-C9B8-91F2-22C9-DDAF43997336}"/>
              </a:ext>
            </a:extLst>
          </p:cNvPr>
          <p:cNvSpPr/>
          <p:nvPr/>
        </p:nvSpPr>
        <p:spPr>
          <a:xfrm>
            <a:off x="4526280" y="482803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D972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Pivot_Admission</a:t>
            </a:r>
            <a:endParaRPr lang="en-US" sz="1450" dirty="0"/>
          </a:p>
        </p:txBody>
      </p:sp>
      <p:sp>
        <p:nvSpPr>
          <p:cNvPr id="42" name="Text 17">
            <a:extLst>
              <a:ext uri="{FF2B5EF4-FFF2-40B4-BE49-F238E27FC236}">
                <a16:creationId xmlns:a16="http://schemas.microsoft.com/office/drawing/2014/main" id="{D71542C4-1A3E-170D-5E92-4463514DB431}"/>
              </a:ext>
            </a:extLst>
          </p:cNvPr>
          <p:cNvSpPr/>
          <p:nvPr/>
        </p:nvSpPr>
        <p:spPr>
          <a:xfrm>
            <a:off x="4526280" y="5193792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4D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Medical Condition x Admission Type cross-tab, visualized as a clustered column chart</a:t>
            </a:r>
            <a:endParaRPr lang="en-US" sz="1100" dirty="0"/>
          </a:p>
        </p:txBody>
      </p:sp>
      <p:sp>
        <p:nvSpPr>
          <p:cNvPr id="44" name="Shape 18">
            <a:extLst>
              <a:ext uri="{FF2B5EF4-FFF2-40B4-BE49-F238E27FC236}">
                <a16:creationId xmlns:a16="http://schemas.microsoft.com/office/drawing/2014/main" id="{B8E55F6D-EB2B-E40E-58CD-519A8EA96199}"/>
              </a:ext>
            </a:extLst>
          </p:cNvPr>
          <p:cNvSpPr/>
          <p:nvPr/>
        </p:nvSpPr>
        <p:spPr>
          <a:xfrm>
            <a:off x="8046720" y="4023360"/>
            <a:ext cx="3566160" cy="1965960"/>
          </a:xfrm>
          <a:prstGeom prst="roundRect">
            <a:avLst>
              <a:gd name="adj" fmla="val 3256"/>
            </a:avLst>
          </a:prstGeom>
          <a:solidFill>
            <a:srgbClr val="12263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6" name="Shape 19">
            <a:extLst>
              <a:ext uri="{FF2B5EF4-FFF2-40B4-BE49-F238E27FC236}">
                <a16:creationId xmlns:a16="http://schemas.microsoft.com/office/drawing/2014/main" id="{9AEEECB9-0C27-4863-F085-BEDB589C73AC}"/>
              </a:ext>
            </a:extLst>
          </p:cNvPr>
          <p:cNvSpPr/>
          <p:nvPr/>
        </p:nvSpPr>
        <p:spPr>
          <a:xfrm>
            <a:off x="8275320" y="4251960"/>
            <a:ext cx="457200" cy="457200"/>
          </a:xfrm>
          <a:prstGeom prst="ellipse">
            <a:avLst/>
          </a:prstGeom>
          <a:solidFill>
            <a:srgbClr val="1B7A7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8" name="Text 20">
            <a:extLst>
              <a:ext uri="{FF2B5EF4-FFF2-40B4-BE49-F238E27FC236}">
                <a16:creationId xmlns:a16="http://schemas.microsoft.com/office/drawing/2014/main" id="{95CF6D99-ADBE-1E3A-0474-08851CD9AA57}"/>
              </a:ext>
            </a:extLst>
          </p:cNvPr>
          <p:cNvSpPr/>
          <p:nvPr/>
        </p:nvSpPr>
        <p:spPr>
          <a:xfrm>
            <a:off x="8275320" y="4251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50" name="Text 21">
            <a:extLst>
              <a:ext uri="{FF2B5EF4-FFF2-40B4-BE49-F238E27FC236}">
                <a16:creationId xmlns:a16="http://schemas.microsoft.com/office/drawing/2014/main" id="{180029B6-5B30-8B5E-923B-3B3D773F6EB0}"/>
              </a:ext>
            </a:extLst>
          </p:cNvPr>
          <p:cNvSpPr/>
          <p:nvPr/>
        </p:nvSpPr>
        <p:spPr>
          <a:xfrm>
            <a:off x="8275320" y="482803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D972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Pivot_Insurance</a:t>
            </a:r>
            <a:endParaRPr lang="en-US" sz="1450" dirty="0"/>
          </a:p>
        </p:txBody>
      </p:sp>
      <p:sp>
        <p:nvSpPr>
          <p:cNvPr id="52" name="Text 22">
            <a:extLst>
              <a:ext uri="{FF2B5EF4-FFF2-40B4-BE49-F238E27FC236}">
                <a16:creationId xmlns:a16="http://schemas.microsoft.com/office/drawing/2014/main" id="{E36C7DA3-720A-6156-BCB2-01A51A6D178D}"/>
              </a:ext>
            </a:extLst>
          </p:cNvPr>
          <p:cNvSpPr/>
          <p:nvPr/>
        </p:nvSpPr>
        <p:spPr>
          <a:xfrm>
            <a:off x="8275320" y="5193792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4D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Claims volume &amp; total revenue by insurance provider, visualized as a column chart</a:t>
            </a:r>
            <a:endParaRPr lang="en-US" sz="1100" dirty="0"/>
          </a:p>
        </p:txBody>
      </p:sp>
      <p:sp>
        <p:nvSpPr>
          <p:cNvPr id="54" name="Text 23">
            <a:extLst>
              <a:ext uri="{FF2B5EF4-FFF2-40B4-BE49-F238E27FC236}">
                <a16:creationId xmlns:a16="http://schemas.microsoft.com/office/drawing/2014/main" id="{4B6C0ACB-BFDC-CB9A-D3FF-B069F68C5986}"/>
              </a:ext>
            </a:extLst>
          </p:cNvPr>
          <p:cNvSpPr/>
          <p:nvPr/>
        </p:nvSpPr>
        <p:spPr>
          <a:xfrm>
            <a:off x="36576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Hospital Billing &amp; Operations Analytics</a:t>
            </a:r>
            <a:endParaRPr lang="en-US" sz="900" dirty="0"/>
          </a:p>
        </p:txBody>
      </p:sp>
      <p:sp>
        <p:nvSpPr>
          <p:cNvPr id="56" name="Text 24">
            <a:extLst>
              <a:ext uri="{FF2B5EF4-FFF2-40B4-BE49-F238E27FC236}">
                <a16:creationId xmlns:a16="http://schemas.microsoft.com/office/drawing/2014/main" id="{E239A31F-86ED-0F03-F99C-5D24B640BD13}"/>
              </a:ext>
            </a:extLst>
          </p:cNvPr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A"/>
                </a:solidFill>
              </a:rPr>
              <a:t>9</a:t>
            </a:r>
            <a:endParaRPr lang="en-US" sz="900" dirty="0"/>
          </a:p>
        </p:txBody>
      </p:sp>
      <p:sp>
        <p:nvSpPr>
          <p:cNvPr id="58" name="Text 0">
            <a:extLst>
              <a:ext uri="{FF2B5EF4-FFF2-40B4-BE49-F238E27FC236}">
                <a16:creationId xmlns:a16="http://schemas.microsoft.com/office/drawing/2014/main" id="{61EDAFDB-8FD9-37D0-1F52-185C465996C7}"/>
              </a:ext>
            </a:extLst>
          </p:cNvPr>
          <p:cNvSpPr/>
          <p:nvPr/>
        </p:nvSpPr>
        <p:spPr>
          <a:xfrm>
            <a:off x="4579464" y="55984"/>
            <a:ext cx="221322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u="sng" kern="0" spc="200" dirty="0">
                <a:solidFill>
                  <a:srgbClr val="1B7A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TASK 5 :-</a:t>
            </a:r>
            <a:endParaRPr lang="en-US" sz="2800" u="sng" dirty="0"/>
          </a:p>
        </p:txBody>
      </p:sp>
    </p:spTree>
    <p:extLst>
      <p:ext uri="{BB962C8B-B14F-4D97-AF65-F5344CB8AC3E}">
        <p14:creationId xmlns:p14="http://schemas.microsoft.com/office/powerpoint/2010/main" val="268995713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A3363022-C969-41E9-8EB2-E4C94908C1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1695" cy="68520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D1AD6B3-BE88-4CEB-BA17-790657CC47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89D1390B-7E13-4B4F-9CB2-391063412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253" y="-5977"/>
            <a:ext cx="6238675" cy="6863979"/>
            <a:chOff x="305" y="-5977"/>
            <a:chExt cx="6238675" cy="6863979"/>
          </a:xfrm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9E720206-AA49-4786-A932-A2650DE091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34854"/>
              <a:ext cx="6028697" cy="6817170"/>
            </a:xfrm>
            <a:custGeom>
              <a:avLst/>
              <a:gdLst>
                <a:gd name="connsiteX0" fmla="*/ 6028697 w 6028697"/>
                <a:gd name="connsiteY0" fmla="*/ 6155323 h 6817170"/>
                <a:gd name="connsiteX1" fmla="*/ 6028697 w 6028697"/>
                <a:gd name="connsiteY1" fmla="*/ 6817170 h 6817170"/>
                <a:gd name="connsiteX2" fmla="*/ 5157862 w 6028697"/>
                <a:gd name="connsiteY2" fmla="*/ 6817170 h 6817170"/>
                <a:gd name="connsiteX3" fmla="*/ 5347156 w 6028697"/>
                <a:gd name="connsiteY3" fmla="*/ 6687553 h 6817170"/>
                <a:gd name="connsiteX4" fmla="*/ 5487470 w 6028697"/>
                <a:gd name="connsiteY4" fmla="*/ 6581714 h 6817170"/>
                <a:gd name="connsiteX5" fmla="*/ 5627642 w 6028697"/>
                <a:gd name="connsiteY5" fmla="*/ 6472328 h 6817170"/>
                <a:gd name="connsiteX6" fmla="*/ 5911392 w 6028697"/>
                <a:gd name="connsiteY6" fmla="*/ 6245328 h 6817170"/>
                <a:gd name="connsiteX7" fmla="*/ 4481066 w 6028697"/>
                <a:gd name="connsiteY7" fmla="*/ 478 h 6817170"/>
                <a:gd name="connsiteX8" fmla="*/ 4672258 w 6028697"/>
                <a:gd name="connsiteY8" fmla="*/ 7519 h 6817170"/>
                <a:gd name="connsiteX9" fmla="*/ 5429869 w 6028697"/>
                <a:gd name="connsiteY9" fmla="*/ 125134 h 6817170"/>
                <a:gd name="connsiteX10" fmla="*/ 5976319 w 6028697"/>
                <a:gd name="connsiteY10" fmla="*/ 314893 h 6817170"/>
                <a:gd name="connsiteX11" fmla="*/ 6028697 w 6028697"/>
                <a:gd name="connsiteY11" fmla="*/ 339901 h 6817170"/>
                <a:gd name="connsiteX12" fmla="*/ 6028697 w 6028697"/>
                <a:gd name="connsiteY12" fmla="*/ 732458 h 6817170"/>
                <a:gd name="connsiteX13" fmla="*/ 5990985 w 6028697"/>
                <a:gd name="connsiteY13" fmla="*/ 712211 h 6817170"/>
                <a:gd name="connsiteX14" fmla="*/ 5341339 w 6028697"/>
                <a:gd name="connsiteY14" fmla="*/ 475281 h 6817170"/>
                <a:gd name="connsiteX15" fmla="*/ 4651969 w 6028697"/>
                <a:gd name="connsiteY15" fmla="*/ 377104 h 6817170"/>
                <a:gd name="connsiteX16" fmla="*/ 3953093 w 6028697"/>
                <a:gd name="connsiteY16" fmla="*/ 402498 h 6817170"/>
                <a:gd name="connsiteX17" fmla="*/ 3267413 w 6028697"/>
                <a:gd name="connsiteY17" fmla="*/ 546643 h 6817170"/>
                <a:gd name="connsiteX18" fmla="*/ 1439498 w 6028697"/>
                <a:gd name="connsiteY18" fmla="*/ 1568141 h 6817170"/>
                <a:gd name="connsiteX19" fmla="*/ 960671 w 6028697"/>
                <a:gd name="connsiteY19" fmla="*/ 2082013 h 6817170"/>
                <a:gd name="connsiteX20" fmla="*/ 581866 w 6028697"/>
                <a:gd name="connsiteY20" fmla="*/ 2672638 h 6817170"/>
                <a:gd name="connsiteX21" fmla="*/ 324789 w 6028697"/>
                <a:gd name="connsiteY21" fmla="*/ 3325262 h 6817170"/>
                <a:gd name="connsiteX22" fmla="*/ 231151 w 6028697"/>
                <a:gd name="connsiteY22" fmla="*/ 4022292 h 6817170"/>
                <a:gd name="connsiteX23" fmla="*/ 270592 w 6028697"/>
                <a:gd name="connsiteY23" fmla="*/ 4362792 h 6817170"/>
                <a:gd name="connsiteX24" fmla="*/ 387213 w 6028697"/>
                <a:gd name="connsiteY24" fmla="*/ 4681585 h 6817170"/>
                <a:gd name="connsiteX25" fmla="*/ 468507 w 6028697"/>
                <a:gd name="connsiteY25" fmla="*/ 4831546 h 6817170"/>
                <a:gd name="connsiteX26" fmla="*/ 561862 w 6028697"/>
                <a:gd name="connsiteY26" fmla="*/ 4976826 h 6817170"/>
                <a:gd name="connsiteX27" fmla="*/ 777511 w 6028697"/>
                <a:gd name="connsiteY27" fmla="*/ 5257597 h 6817170"/>
                <a:gd name="connsiteX28" fmla="*/ 1010895 w 6028697"/>
                <a:gd name="connsiteY28" fmla="*/ 5540494 h 6817170"/>
                <a:gd name="connsiteX29" fmla="*/ 1126948 w 6028697"/>
                <a:gd name="connsiteY29" fmla="*/ 5688186 h 6817170"/>
                <a:gd name="connsiteX30" fmla="*/ 1182706 w 6028697"/>
                <a:gd name="connsiteY30" fmla="*/ 5760543 h 6817170"/>
                <a:gd name="connsiteX31" fmla="*/ 1237327 w 6028697"/>
                <a:gd name="connsiteY31" fmla="*/ 5830060 h 6817170"/>
                <a:gd name="connsiteX32" fmla="*/ 1706649 w 6028697"/>
                <a:gd name="connsiteY32" fmla="*/ 6342797 h 6817170"/>
                <a:gd name="connsiteX33" fmla="*/ 1956207 w 6028697"/>
                <a:gd name="connsiteY33" fmla="*/ 6573484 h 6817170"/>
                <a:gd name="connsiteX34" fmla="*/ 2217681 w 6028697"/>
                <a:gd name="connsiteY34" fmla="*/ 6786297 h 6817170"/>
                <a:gd name="connsiteX35" fmla="*/ 2260820 w 6028697"/>
                <a:gd name="connsiteY35" fmla="*/ 6817170 h 6817170"/>
                <a:gd name="connsiteX36" fmla="*/ 1429497 w 6028697"/>
                <a:gd name="connsiteY36" fmla="*/ 6817170 h 6817170"/>
                <a:gd name="connsiteX37" fmla="*/ 1327275 w 6028697"/>
                <a:gd name="connsiteY37" fmla="*/ 6713800 h 6817170"/>
                <a:gd name="connsiteX38" fmla="*/ 1080556 w 6028697"/>
                <a:gd name="connsiteY38" fmla="*/ 6414443 h 6817170"/>
                <a:gd name="connsiteX39" fmla="*/ 865189 w 6028697"/>
                <a:gd name="connsiteY39" fmla="*/ 6097496 h 6817170"/>
                <a:gd name="connsiteX40" fmla="*/ 814823 w 6028697"/>
                <a:gd name="connsiteY40" fmla="*/ 6016911 h 6817170"/>
                <a:gd name="connsiteX41" fmla="*/ 766729 w 6028697"/>
                <a:gd name="connsiteY41" fmla="*/ 5938453 h 6817170"/>
                <a:gd name="connsiteX42" fmla="*/ 671672 w 6028697"/>
                <a:gd name="connsiteY42" fmla="*/ 5786648 h 6817170"/>
                <a:gd name="connsiteX43" fmla="*/ 474608 w 6028697"/>
                <a:gd name="connsiteY43" fmla="*/ 5474664 h 6817170"/>
                <a:gd name="connsiteX44" fmla="*/ 282652 w 6028697"/>
                <a:gd name="connsiteY44" fmla="*/ 5146508 h 6817170"/>
                <a:gd name="connsiteX45" fmla="*/ 196108 w 6028697"/>
                <a:gd name="connsiteY45" fmla="*/ 4972712 h 6817170"/>
                <a:gd name="connsiteX46" fmla="*/ 122474 w 6028697"/>
                <a:gd name="connsiteY46" fmla="*/ 4791821 h 6817170"/>
                <a:gd name="connsiteX47" fmla="*/ 65724 w 6028697"/>
                <a:gd name="connsiteY47" fmla="*/ 4603129 h 6817170"/>
                <a:gd name="connsiteX48" fmla="*/ 44727 w 6028697"/>
                <a:gd name="connsiteY48" fmla="*/ 4506937 h 6817170"/>
                <a:gd name="connsiteX49" fmla="*/ 35505 w 6028697"/>
                <a:gd name="connsiteY49" fmla="*/ 4458699 h 6817170"/>
                <a:gd name="connsiteX50" fmla="*/ 27845 w 6028697"/>
                <a:gd name="connsiteY50" fmla="*/ 4410320 h 6817170"/>
                <a:gd name="connsiteX51" fmla="*/ 37 w 6028697"/>
                <a:gd name="connsiteY51" fmla="*/ 4022292 h 6817170"/>
                <a:gd name="connsiteX52" fmla="*/ 78777 w 6028697"/>
                <a:gd name="connsiteY52" fmla="*/ 3267236 h 6817170"/>
                <a:gd name="connsiteX53" fmla="*/ 315424 w 6028697"/>
                <a:gd name="connsiteY53" fmla="*/ 2543673 h 6817170"/>
                <a:gd name="connsiteX54" fmla="*/ 1202710 w 6028697"/>
                <a:gd name="connsiteY54" fmla="*/ 1314895 h 6817170"/>
                <a:gd name="connsiteX55" fmla="*/ 1791065 w 6028697"/>
                <a:gd name="connsiteY55" fmla="*/ 833514 h 6817170"/>
                <a:gd name="connsiteX56" fmla="*/ 3908404 w 6028697"/>
                <a:gd name="connsiteY56" fmla="*/ 29794 h 6817170"/>
                <a:gd name="connsiteX57" fmla="*/ 4481066 w 6028697"/>
                <a:gd name="connsiteY57" fmla="*/ 478 h 6817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6028697" h="6817170">
                  <a:moveTo>
                    <a:pt x="6028697" y="6155323"/>
                  </a:moveTo>
                  <a:lnTo>
                    <a:pt x="6028697" y="6817170"/>
                  </a:lnTo>
                  <a:lnTo>
                    <a:pt x="5157862" y="6817170"/>
                  </a:lnTo>
                  <a:lnTo>
                    <a:pt x="5347156" y="6687553"/>
                  </a:lnTo>
                  <a:cubicBezTo>
                    <a:pt x="5394117" y="6653219"/>
                    <a:pt x="5440793" y="6617608"/>
                    <a:pt x="5487470" y="6581714"/>
                  </a:cubicBezTo>
                  <a:cubicBezTo>
                    <a:pt x="5534147" y="6545820"/>
                    <a:pt x="5580966" y="6509358"/>
                    <a:pt x="5627642" y="6472328"/>
                  </a:cubicBezTo>
                  <a:lnTo>
                    <a:pt x="5911392" y="6245328"/>
                  </a:lnTo>
                  <a:close/>
                  <a:moveTo>
                    <a:pt x="4481066" y="478"/>
                  </a:moveTo>
                  <a:cubicBezTo>
                    <a:pt x="4544817" y="1422"/>
                    <a:pt x="4608563" y="3769"/>
                    <a:pt x="4672258" y="7519"/>
                  </a:cubicBezTo>
                  <a:cubicBezTo>
                    <a:pt x="4927973" y="22364"/>
                    <a:pt x="5181687" y="61751"/>
                    <a:pt x="5429869" y="125134"/>
                  </a:cubicBezTo>
                  <a:cubicBezTo>
                    <a:pt x="5617090" y="173104"/>
                    <a:pt x="5799867" y="236595"/>
                    <a:pt x="5976319" y="314893"/>
                  </a:cubicBezTo>
                  <a:lnTo>
                    <a:pt x="6028697" y="339901"/>
                  </a:lnTo>
                  <a:lnTo>
                    <a:pt x="6028697" y="732458"/>
                  </a:lnTo>
                  <a:lnTo>
                    <a:pt x="5990985" y="712211"/>
                  </a:lnTo>
                  <a:cubicBezTo>
                    <a:pt x="5783917" y="609342"/>
                    <a:pt x="5566013" y="529876"/>
                    <a:pt x="5341339" y="475281"/>
                  </a:cubicBezTo>
                  <a:cubicBezTo>
                    <a:pt x="5115233" y="420503"/>
                    <a:pt x="4884375" y="387624"/>
                    <a:pt x="4651969" y="377104"/>
                  </a:cubicBezTo>
                  <a:cubicBezTo>
                    <a:pt x="4418713" y="365171"/>
                    <a:pt x="4184861" y="373670"/>
                    <a:pt x="3953093" y="402498"/>
                  </a:cubicBezTo>
                  <a:cubicBezTo>
                    <a:pt x="3721001" y="431832"/>
                    <a:pt x="3491675" y="480040"/>
                    <a:pt x="3267413" y="546643"/>
                  </a:cubicBezTo>
                  <a:cubicBezTo>
                    <a:pt x="2591323" y="750761"/>
                    <a:pt x="1967642" y="1099289"/>
                    <a:pt x="1439498" y="1568141"/>
                  </a:cubicBezTo>
                  <a:cubicBezTo>
                    <a:pt x="1265589" y="1725523"/>
                    <a:pt x="1105393" y="1897434"/>
                    <a:pt x="960671" y="2082013"/>
                  </a:cubicBezTo>
                  <a:cubicBezTo>
                    <a:pt x="815775" y="2266294"/>
                    <a:pt x="688923" y="2464081"/>
                    <a:pt x="581866" y="2672638"/>
                  </a:cubicBezTo>
                  <a:cubicBezTo>
                    <a:pt x="473765" y="2880669"/>
                    <a:pt x="387610" y="3099397"/>
                    <a:pt x="324789" y="3325262"/>
                  </a:cubicBezTo>
                  <a:cubicBezTo>
                    <a:pt x="262714" y="3552403"/>
                    <a:pt x="231223" y="3786822"/>
                    <a:pt x="231151" y="4022292"/>
                  </a:cubicBezTo>
                  <a:cubicBezTo>
                    <a:pt x="231413" y="4136912"/>
                    <a:pt x="244645" y="4251136"/>
                    <a:pt x="270592" y="4362792"/>
                  </a:cubicBezTo>
                  <a:cubicBezTo>
                    <a:pt x="297885" y="4472943"/>
                    <a:pt x="336983" y="4579833"/>
                    <a:pt x="387213" y="4681585"/>
                  </a:cubicBezTo>
                  <a:cubicBezTo>
                    <a:pt x="412042" y="4732517"/>
                    <a:pt x="439423" y="4782457"/>
                    <a:pt x="468507" y="4831546"/>
                  </a:cubicBezTo>
                  <a:cubicBezTo>
                    <a:pt x="497591" y="4880636"/>
                    <a:pt x="529230" y="4929015"/>
                    <a:pt x="561862" y="4976826"/>
                  </a:cubicBezTo>
                  <a:cubicBezTo>
                    <a:pt x="627975" y="5072166"/>
                    <a:pt x="701466" y="5164668"/>
                    <a:pt x="777511" y="5257597"/>
                  </a:cubicBezTo>
                  <a:cubicBezTo>
                    <a:pt x="853556" y="5350524"/>
                    <a:pt x="933574" y="5443594"/>
                    <a:pt x="1010895" y="5540494"/>
                  </a:cubicBezTo>
                  <a:cubicBezTo>
                    <a:pt x="1049957" y="5588732"/>
                    <a:pt x="1088642" y="5637963"/>
                    <a:pt x="1126948" y="5688186"/>
                  </a:cubicBezTo>
                  <a:lnTo>
                    <a:pt x="1182706" y="5760543"/>
                  </a:lnTo>
                  <a:cubicBezTo>
                    <a:pt x="1201007" y="5783669"/>
                    <a:pt x="1218458" y="5807503"/>
                    <a:pt x="1237327" y="5830060"/>
                  </a:cubicBezTo>
                  <a:cubicBezTo>
                    <a:pt x="1383714" y="6009916"/>
                    <a:pt x="1540413" y="6181116"/>
                    <a:pt x="1706649" y="6342797"/>
                  </a:cubicBezTo>
                  <a:cubicBezTo>
                    <a:pt x="1788084" y="6422531"/>
                    <a:pt x="1871265" y="6499427"/>
                    <a:pt x="1956207" y="6573484"/>
                  </a:cubicBezTo>
                  <a:cubicBezTo>
                    <a:pt x="2041332" y="6647402"/>
                    <a:pt x="2127733" y="6718907"/>
                    <a:pt x="2217681" y="6786297"/>
                  </a:cubicBezTo>
                  <a:lnTo>
                    <a:pt x="2260820" y="6817170"/>
                  </a:lnTo>
                  <a:lnTo>
                    <a:pt x="1429497" y="6817170"/>
                  </a:lnTo>
                  <a:lnTo>
                    <a:pt x="1327275" y="6713800"/>
                  </a:lnTo>
                  <a:cubicBezTo>
                    <a:pt x="1239186" y="6618984"/>
                    <a:pt x="1156797" y="6519019"/>
                    <a:pt x="1080556" y="6414443"/>
                  </a:cubicBezTo>
                  <a:cubicBezTo>
                    <a:pt x="1004653" y="6310734"/>
                    <a:pt x="932439" y="6205177"/>
                    <a:pt x="865189" y="6097496"/>
                  </a:cubicBezTo>
                  <a:cubicBezTo>
                    <a:pt x="847881" y="6070823"/>
                    <a:pt x="831565" y="6043725"/>
                    <a:pt x="814823" y="6016911"/>
                  </a:cubicBezTo>
                  <a:lnTo>
                    <a:pt x="766729" y="5938453"/>
                  </a:lnTo>
                  <a:cubicBezTo>
                    <a:pt x="735941" y="5887947"/>
                    <a:pt x="703878" y="5837581"/>
                    <a:pt x="671672" y="5786648"/>
                  </a:cubicBezTo>
                  <a:lnTo>
                    <a:pt x="474608" y="5474664"/>
                  </a:lnTo>
                  <a:cubicBezTo>
                    <a:pt x="408778" y="5368968"/>
                    <a:pt x="343516" y="5260008"/>
                    <a:pt x="282652" y="5146508"/>
                  </a:cubicBezTo>
                  <a:cubicBezTo>
                    <a:pt x="252290" y="5089759"/>
                    <a:pt x="223065" y="5032015"/>
                    <a:pt x="196108" y="4972712"/>
                  </a:cubicBezTo>
                  <a:cubicBezTo>
                    <a:pt x="169152" y="4913408"/>
                    <a:pt x="144607" y="4853111"/>
                    <a:pt x="122474" y="4791821"/>
                  </a:cubicBezTo>
                  <a:cubicBezTo>
                    <a:pt x="100342" y="4730532"/>
                    <a:pt x="81757" y="4666830"/>
                    <a:pt x="65724" y="4603129"/>
                  </a:cubicBezTo>
                  <a:cubicBezTo>
                    <a:pt x="58205" y="4571064"/>
                    <a:pt x="50828" y="4539143"/>
                    <a:pt x="44727" y="4506937"/>
                  </a:cubicBezTo>
                  <a:lnTo>
                    <a:pt x="35505" y="4458699"/>
                  </a:lnTo>
                  <a:lnTo>
                    <a:pt x="27845" y="4410320"/>
                  </a:lnTo>
                  <a:cubicBezTo>
                    <a:pt x="8635" y="4281881"/>
                    <a:pt x="-661" y="4152150"/>
                    <a:pt x="37" y="4022292"/>
                  </a:cubicBezTo>
                  <a:cubicBezTo>
                    <a:pt x="712" y="3768592"/>
                    <a:pt x="27094" y="3515615"/>
                    <a:pt x="78777" y="3267236"/>
                  </a:cubicBezTo>
                  <a:cubicBezTo>
                    <a:pt x="130048" y="3017876"/>
                    <a:pt x="209439" y="2775142"/>
                    <a:pt x="315424" y="2543673"/>
                  </a:cubicBezTo>
                  <a:cubicBezTo>
                    <a:pt x="528236" y="2081161"/>
                    <a:pt x="838234" y="1667312"/>
                    <a:pt x="1202710" y="1314895"/>
                  </a:cubicBezTo>
                  <a:cubicBezTo>
                    <a:pt x="1385514" y="1138814"/>
                    <a:pt x="1582282" y="977831"/>
                    <a:pt x="1791065" y="833514"/>
                  </a:cubicBezTo>
                  <a:cubicBezTo>
                    <a:pt x="2420037" y="395614"/>
                    <a:pt x="3147288" y="119557"/>
                    <a:pt x="3908404" y="29794"/>
                  </a:cubicBezTo>
                  <a:cubicBezTo>
                    <a:pt x="4098509" y="7429"/>
                    <a:pt x="4289811" y="-2355"/>
                    <a:pt x="4481066" y="47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C72F6EE6-EDE9-45A5-8F6D-02B9B7CB2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1"/>
              <a:ext cx="6165116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C093DC50-3BD7-46B1-A300-CD207E152F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-5977"/>
              <a:ext cx="6238675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2" name="Text 1">
            <a:extLst>
              <a:ext uri="{FF2B5EF4-FFF2-40B4-BE49-F238E27FC236}">
                <a16:creationId xmlns:a16="http://schemas.microsoft.com/office/drawing/2014/main" id="{BA555E70-4749-3430-C17D-CEB3A4B10F61}"/>
              </a:ext>
            </a:extLst>
          </p:cNvPr>
          <p:cNvSpPr/>
          <p:nvPr/>
        </p:nvSpPr>
        <p:spPr>
          <a:xfrm>
            <a:off x="-77812" y="623363"/>
            <a:ext cx="2700019" cy="815257"/>
          </a:xfrm>
          <a:prstGeom prst="ellipse">
            <a:avLst/>
          </a:prstGeom>
        </p:spPr>
        <p:txBody>
          <a:bodyPr vert="horz" lIns="91440" tIns="45720" rIns="91440" bIns="45720" rtlCol="0" anchor="t">
            <a:normAutofit fontScale="77500" lnSpcReduction="20000"/>
          </a:bodyPr>
          <a:lstStyle/>
          <a:p>
            <a:pPr marL="0" inden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400" b="1" u="sng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Pivot </a:t>
            </a:r>
            <a:r>
              <a:rPr lang="en-US" sz="3400" b="1" u="sng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Chart</a:t>
            </a:r>
            <a:r>
              <a:rPr lang="en-US" sz="3400" b="1" u="sng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:-</a:t>
            </a:r>
            <a:endParaRPr lang="en-US" sz="3400" u="sng" kern="120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4" name="Text 16">
            <a:extLst>
              <a:ext uri="{FF2B5EF4-FFF2-40B4-BE49-F238E27FC236}">
                <a16:creationId xmlns:a16="http://schemas.microsoft.com/office/drawing/2014/main" id="{063B546A-4A44-71B7-5451-8E53D4857CCD}"/>
              </a:ext>
            </a:extLst>
          </p:cNvPr>
          <p:cNvSpPr/>
          <p:nvPr/>
        </p:nvSpPr>
        <p:spPr>
          <a:xfrm>
            <a:off x="36576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Hospital Billing &amp; Operations Analytics</a:t>
            </a:r>
            <a:endParaRPr lang="en-US" sz="900" dirty="0"/>
          </a:p>
        </p:txBody>
      </p:sp>
      <p:sp>
        <p:nvSpPr>
          <p:cNvPr id="7" name="Shape 9">
            <a:extLst>
              <a:ext uri="{FF2B5EF4-FFF2-40B4-BE49-F238E27FC236}">
                <a16:creationId xmlns:a16="http://schemas.microsoft.com/office/drawing/2014/main" id="{40886A55-C0C5-C112-20A8-933B02414F64}"/>
              </a:ext>
            </a:extLst>
          </p:cNvPr>
          <p:cNvSpPr/>
          <p:nvPr/>
        </p:nvSpPr>
        <p:spPr>
          <a:xfrm>
            <a:off x="144426" y="1731190"/>
            <a:ext cx="5880017" cy="4506685"/>
          </a:xfrm>
          <a:prstGeom prst="roundRect">
            <a:avLst>
              <a:gd name="adj" fmla="val 1818"/>
            </a:avLst>
          </a:prstGeom>
          <a:solidFill>
            <a:srgbClr val="F7F9FA"/>
          </a:solidFill>
          <a:ln w="12700">
            <a:solidFill>
              <a:srgbClr val="DFE5E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8E8D476B-B17D-EF4F-EC49-0EFCBFE1D9C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78720977"/>
              </p:ext>
            </p:extLst>
          </p:nvPr>
        </p:nvGraphicFramePr>
        <p:xfrm>
          <a:off x="144427" y="2004179"/>
          <a:ext cx="5957273" cy="39336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0" name="Shape 9">
            <a:extLst>
              <a:ext uri="{FF2B5EF4-FFF2-40B4-BE49-F238E27FC236}">
                <a16:creationId xmlns:a16="http://schemas.microsoft.com/office/drawing/2014/main" id="{7BEC4535-C670-73D9-7FEA-91E150F647B9}"/>
              </a:ext>
            </a:extLst>
          </p:cNvPr>
          <p:cNvSpPr/>
          <p:nvPr/>
        </p:nvSpPr>
        <p:spPr>
          <a:xfrm>
            <a:off x="7025951" y="2015618"/>
            <a:ext cx="4805996" cy="3181533"/>
          </a:xfrm>
          <a:prstGeom prst="roundRect">
            <a:avLst>
              <a:gd name="adj" fmla="val 1818"/>
            </a:avLst>
          </a:prstGeom>
          <a:solidFill>
            <a:srgbClr val="F7F9FA"/>
          </a:solidFill>
          <a:ln w="12700">
            <a:solidFill>
              <a:srgbClr val="DFE5E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D30E31A-A9CD-AEFD-676A-057B883FD75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2073235"/>
              </p:ext>
            </p:extLst>
          </p:nvPr>
        </p:nvGraphicFramePr>
        <p:xfrm>
          <a:off x="7256769" y="2521361"/>
          <a:ext cx="4141762" cy="2430334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233728">
                  <a:extLst>
                    <a:ext uri="{9D8B030D-6E8A-4147-A177-3AD203B41FA5}">
                      <a16:colId xmlns:a16="http://schemas.microsoft.com/office/drawing/2014/main" val="4173511757"/>
                    </a:ext>
                  </a:extLst>
                </a:gridCol>
                <a:gridCol w="1454017">
                  <a:extLst>
                    <a:ext uri="{9D8B030D-6E8A-4147-A177-3AD203B41FA5}">
                      <a16:colId xmlns:a16="http://schemas.microsoft.com/office/drawing/2014/main" val="3623430919"/>
                    </a:ext>
                  </a:extLst>
                </a:gridCol>
                <a:gridCol w="1454017">
                  <a:extLst>
                    <a:ext uri="{9D8B030D-6E8A-4147-A177-3AD203B41FA5}">
                      <a16:colId xmlns:a16="http://schemas.microsoft.com/office/drawing/2014/main" val="2796024394"/>
                    </a:ext>
                  </a:extLst>
                </a:gridCol>
              </a:tblGrid>
              <a:tr h="49568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400" b="1" u="none" strike="noStrike">
                          <a:solidFill>
                            <a:srgbClr val="000000"/>
                          </a:solidFill>
                          <a:effectLst/>
                        </a:rPr>
                        <a:t>Row Labels</a:t>
                      </a:r>
                      <a:endParaRPr lang="en-IN" sz="1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9471" marR="19471" marT="1947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400" b="1" u="none" strike="noStrike">
                          <a:solidFill>
                            <a:srgbClr val="000000"/>
                          </a:solidFill>
                          <a:effectLst/>
                        </a:rPr>
                        <a:t>Count of billing_amount</a:t>
                      </a:r>
                      <a:endParaRPr lang="en-IN" sz="1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9471" marR="19471" marT="1947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4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Average of </a:t>
                      </a:r>
                      <a:r>
                        <a:rPr lang="en-IN" sz="1400" b="1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billing_amount</a:t>
                      </a:r>
                      <a:endParaRPr lang="en-IN" sz="1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9471" marR="19471" marT="19471" marB="0" anchor="b"/>
                </a:tc>
                <a:extLst>
                  <a:ext uri="{0D108BD9-81ED-4DB2-BD59-A6C34878D82A}">
                    <a16:rowId xmlns:a16="http://schemas.microsoft.com/office/drawing/2014/main" val="3957245270"/>
                  </a:ext>
                </a:extLst>
              </a:tr>
              <a:tr h="27637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Arthritis</a:t>
                      </a:r>
                      <a:endParaRPr lang="en-IN" sz="1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9471" marR="19471" marT="1947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9,218</a:t>
                      </a:r>
                      <a:endParaRPr lang="en-IN" sz="1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9471" marR="19471" marT="1947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25,511.8</a:t>
                      </a:r>
                      <a:endParaRPr lang="en-IN" sz="1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9471" marR="19471" marT="19471" marB="0" anchor="b"/>
                </a:tc>
                <a:extLst>
                  <a:ext uri="{0D108BD9-81ED-4DB2-BD59-A6C34878D82A}">
                    <a16:rowId xmlns:a16="http://schemas.microsoft.com/office/drawing/2014/main" val="1162955083"/>
                  </a:ext>
                </a:extLst>
              </a:tr>
              <a:tr h="27637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Diabetes</a:t>
                      </a:r>
                      <a:endParaRPr lang="en-IN" sz="1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9471" marR="19471" marT="1947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9,216</a:t>
                      </a:r>
                      <a:endParaRPr lang="en-IN" sz="1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9471" marR="19471" marT="1947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25,660.5</a:t>
                      </a:r>
                      <a:endParaRPr lang="en-IN" sz="1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9471" marR="19471" marT="19471" marB="0" anchor="b"/>
                </a:tc>
                <a:extLst>
                  <a:ext uri="{0D108BD9-81ED-4DB2-BD59-A6C34878D82A}">
                    <a16:rowId xmlns:a16="http://schemas.microsoft.com/office/drawing/2014/main" val="1831440230"/>
                  </a:ext>
                </a:extLst>
              </a:tr>
              <a:tr h="27637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Hypertension</a:t>
                      </a:r>
                      <a:endParaRPr lang="en-IN" sz="1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9471" marR="19471" marT="1947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9,151</a:t>
                      </a:r>
                      <a:endParaRPr lang="en-IN" sz="1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9471" marR="19471" marT="1947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25,503.1</a:t>
                      </a:r>
                      <a:endParaRPr lang="en-IN" sz="1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9471" marR="19471" marT="19471" marB="0" anchor="b"/>
                </a:tc>
                <a:extLst>
                  <a:ext uri="{0D108BD9-81ED-4DB2-BD59-A6C34878D82A}">
                    <a16:rowId xmlns:a16="http://schemas.microsoft.com/office/drawing/2014/main" val="2002364788"/>
                  </a:ext>
                </a:extLst>
              </a:tr>
              <a:tr h="27637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Obesity</a:t>
                      </a:r>
                      <a:endParaRPr lang="en-IN" sz="1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9471" marR="19471" marT="1947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9,146</a:t>
                      </a:r>
                      <a:endParaRPr lang="en-IN" sz="1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9471" marR="19471" marT="1947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25,804.4</a:t>
                      </a:r>
                      <a:endParaRPr lang="en-IN" sz="1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9471" marR="19471" marT="19471" marB="0" anchor="b"/>
                </a:tc>
                <a:extLst>
                  <a:ext uri="{0D108BD9-81ED-4DB2-BD59-A6C34878D82A}">
                    <a16:rowId xmlns:a16="http://schemas.microsoft.com/office/drawing/2014/main" val="3035851873"/>
                  </a:ext>
                </a:extLst>
              </a:tr>
              <a:tr h="27637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Cancer</a:t>
                      </a:r>
                      <a:endParaRPr lang="en-IN" sz="1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9471" marR="19471" marT="1947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9,140</a:t>
                      </a:r>
                      <a:endParaRPr lang="en-IN" sz="1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9471" marR="19471" marT="1947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25,152.3</a:t>
                      </a:r>
                      <a:endParaRPr lang="en-IN" sz="1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9471" marR="19471" marT="19471" marB="0" anchor="b"/>
                </a:tc>
                <a:extLst>
                  <a:ext uri="{0D108BD9-81ED-4DB2-BD59-A6C34878D82A}">
                    <a16:rowId xmlns:a16="http://schemas.microsoft.com/office/drawing/2014/main" val="2524095173"/>
                  </a:ext>
                </a:extLst>
              </a:tr>
              <a:tr h="27637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Asthma</a:t>
                      </a:r>
                      <a:endParaRPr lang="en-IN" sz="1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9471" marR="19471" marT="1947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9,095</a:t>
                      </a:r>
                      <a:endParaRPr lang="en-IN" sz="1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9471" marR="19471" marT="1947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25,633.5</a:t>
                      </a:r>
                      <a:endParaRPr lang="en-IN" sz="1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9471" marR="19471" marT="19471" marB="0" anchor="b"/>
                </a:tc>
                <a:extLst>
                  <a:ext uri="{0D108BD9-81ED-4DB2-BD59-A6C34878D82A}">
                    <a16:rowId xmlns:a16="http://schemas.microsoft.com/office/drawing/2014/main" val="4010984471"/>
                  </a:ext>
                </a:extLst>
              </a:tr>
              <a:tr h="27637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400" b="1" u="none" strike="noStrike">
                          <a:solidFill>
                            <a:srgbClr val="000000"/>
                          </a:solidFill>
                          <a:effectLst/>
                        </a:rPr>
                        <a:t>Grand Total</a:t>
                      </a:r>
                      <a:endParaRPr lang="en-IN" sz="1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9471" marR="19471" marT="1947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1" u="none" strike="noStrike">
                          <a:solidFill>
                            <a:srgbClr val="000000"/>
                          </a:solidFill>
                          <a:effectLst/>
                        </a:rPr>
                        <a:t>54,966</a:t>
                      </a:r>
                      <a:endParaRPr lang="en-IN" sz="1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9471" marR="19471" marT="1947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25,544.3</a:t>
                      </a:r>
                      <a:endParaRPr lang="en-IN" sz="1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9471" marR="19471" marT="19471" marB="0" anchor="b"/>
                </a:tc>
                <a:extLst>
                  <a:ext uri="{0D108BD9-81ED-4DB2-BD59-A6C34878D82A}">
                    <a16:rowId xmlns:a16="http://schemas.microsoft.com/office/drawing/2014/main" val="3694009974"/>
                  </a:ext>
                </a:extLst>
              </a:tr>
            </a:tbl>
          </a:graphicData>
        </a:graphic>
      </p:graphicFrame>
      <p:sp>
        <p:nvSpPr>
          <p:cNvPr id="8" name="Text 1">
            <a:extLst>
              <a:ext uri="{FF2B5EF4-FFF2-40B4-BE49-F238E27FC236}">
                <a16:creationId xmlns:a16="http://schemas.microsoft.com/office/drawing/2014/main" id="{43776B5A-4E4C-6227-0B44-3A0D97466541}"/>
              </a:ext>
            </a:extLst>
          </p:cNvPr>
          <p:cNvSpPr/>
          <p:nvPr/>
        </p:nvSpPr>
        <p:spPr>
          <a:xfrm>
            <a:off x="7092158" y="2015618"/>
            <a:ext cx="4805996" cy="690322"/>
          </a:xfrm>
          <a:prstGeom prst="ellipse">
            <a:avLst/>
          </a:prstGeo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pPr marL="0" inden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400" b="1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Excel Pivot Table:-</a:t>
            </a:r>
            <a:endParaRPr lang="en-US" sz="3400" kern="120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56972488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A3363022-C969-41E9-8EB2-E4C94908C1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1695" cy="68520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D1AD6B3-BE88-4CEB-BA17-790657CC47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89D1390B-7E13-4B4F-9CB2-391063412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253" y="-5977"/>
            <a:ext cx="6238675" cy="6863979"/>
            <a:chOff x="305" y="-5977"/>
            <a:chExt cx="6238675" cy="6863979"/>
          </a:xfrm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9E720206-AA49-4786-A932-A2650DE091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34854"/>
              <a:ext cx="6028697" cy="6817170"/>
            </a:xfrm>
            <a:custGeom>
              <a:avLst/>
              <a:gdLst>
                <a:gd name="connsiteX0" fmla="*/ 6028697 w 6028697"/>
                <a:gd name="connsiteY0" fmla="*/ 6155323 h 6817170"/>
                <a:gd name="connsiteX1" fmla="*/ 6028697 w 6028697"/>
                <a:gd name="connsiteY1" fmla="*/ 6817170 h 6817170"/>
                <a:gd name="connsiteX2" fmla="*/ 5157862 w 6028697"/>
                <a:gd name="connsiteY2" fmla="*/ 6817170 h 6817170"/>
                <a:gd name="connsiteX3" fmla="*/ 5347156 w 6028697"/>
                <a:gd name="connsiteY3" fmla="*/ 6687553 h 6817170"/>
                <a:gd name="connsiteX4" fmla="*/ 5487470 w 6028697"/>
                <a:gd name="connsiteY4" fmla="*/ 6581714 h 6817170"/>
                <a:gd name="connsiteX5" fmla="*/ 5627642 w 6028697"/>
                <a:gd name="connsiteY5" fmla="*/ 6472328 h 6817170"/>
                <a:gd name="connsiteX6" fmla="*/ 5911392 w 6028697"/>
                <a:gd name="connsiteY6" fmla="*/ 6245328 h 6817170"/>
                <a:gd name="connsiteX7" fmla="*/ 4481066 w 6028697"/>
                <a:gd name="connsiteY7" fmla="*/ 478 h 6817170"/>
                <a:gd name="connsiteX8" fmla="*/ 4672258 w 6028697"/>
                <a:gd name="connsiteY8" fmla="*/ 7519 h 6817170"/>
                <a:gd name="connsiteX9" fmla="*/ 5429869 w 6028697"/>
                <a:gd name="connsiteY9" fmla="*/ 125134 h 6817170"/>
                <a:gd name="connsiteX10" fmla="*/ 5976319 w 6028697"/>
                <a:gd name="connsiteY10" fmla="*/ 314893 h 6817170"/>
                <a:gd name="connsiteX11" fmla="*/ 6028697 w 6028697"/>
                <a:gd name="connsiteY11" fmla="*/ 339901 h 6817170"/>
                <a:gd name="connsiteX12" fmla="*/ 6028697 w 6028697"/>
                <a:gd name="connsiteY12" fmla="*/ 732458 h 6817170"/>
                <a:gd name="connsiteX13" fmla="*/ 5990985 w 6028697"/>
                <a:gd name="connsiteY13" fmla="*/ 712211 h 6817170"/>
                <a:gd name="connsiteX14" fmla="*/ 5341339 w 6028697"/>
                <a:gd name="connsiteY14" fmla="*/ 475281 h 6817170"/>
                <a:gd name="connsiteX15" fmla="*/ 4651969 w 6028697"/>
                <a:gd name="connsiteY15" fmla="*/ 377104 h 6817170"/>
                <a:gd name="connsiteX16" fmla="*/ 3953093 w 6028697"/>
                <a:gd name="connsiteY16" fmla="*/ 402498 h 6817170"/>
                <a:gd name="connsiteX17" fmla="*/ 3267413 w 6028697"/>
                <a:gd name="connsiteY17" fmla="*/ 546643 h 6817170"/>
                <a:gd name="connsiteX18" fmla="*/ 1439498 w 6028697"/>
                <a:gd name="connsiteY18" fmla="*/ 1568141 h 6817170"/>
                <a:gd name="connsiteX19" fmla="*/ 960671 w 6028697"/>
                <a:gd name="connsiteY19" fmla="*/ 2082013 h 6817170"/>
                <a:gd name="connsiteX20" fmla="*/ 581866 w 6028697"/>
                <a:gd name="connsiteY20" fmla="*/ 2672638 h 6817170"/>
                <a:gd name="connsiteX21" fmla="*/ 324789 w 6028697"/>
                <a:gd name="connsiteY21" fmla="*/ 3325262 h 6817170"/>
                <a:gd name="connsiteX22" fmla="*/ 231151 w 6028697"/>
                <a:gd name="connsiteY22" fmla="*/ 4022292 h 6817170"/>
                <a:gd name="connsiteX23" fmla="*/ 270592 w 6028697"/>
                <a:gd name="connsiteY23" fmla="*/ 4362792 h 6817170"/>
                <a:gd name="connsiteX24" fmla="*/ 387213 w 6028697"/>
                <a:gd name="connsiteY24" fmla="*/ 4681585 h 6817170"/>
                <a:gd name="connsiteX25" fmla="*/ 468507 w 6028697"/>
                <a:gd name="connsiteY25" fmla="*/ 4831546 h 6817170"/>
                <a:gd name="connsiteX26" fmla="*/ 561862 w 6028697"/>
                <a:gd name="connsiteY26" fmla="*/ 4976826 h 6817170"/>
                <a:gd name="connsiteX27" fmla="*/ 777511 w 6028697"/>
                <a:gd name="connsiteY27" fmla="*/ 5257597 h 6817170"/>
                <a:gd name="connsiteX28" fmla="*/ 1010895 w 6028697"/>
                <a:gd name="connsiteY28" fmla="*/ 5540494 h 6817170"/>
                <a:gd name="connsiteX29" fmla="*/ 1126948 w 6028697"/>
                <a:gd name="connsiteY29" fmla="*/ 5688186 h 6817170"/>
                <a:gd name="connsiteX30" fmla="*/ 1182706 w 6028697"/>
                <a:gd name="connsiteY30" fmla="*/ 5760543 h 6817170"/>
                <a:gd name="connsiteX31" fmla="*/ 1237327 w 6028697"/>
                <a:gd name="connsiteY31" fmla="*/ 5830060 h 6817170"/>
                <a:gd name="connsiteX32" fmla="*/ 1706649 w 6028697"/>
                <a:gd name="connsiteY32" fmla="*/ 6342797 h 6817170"/>
                <a:gd name="connsiteX33" fmla="*/ 1956207 w 6028697"/>
                <a:gd name="connsiteY33" fmla="*/ 6573484 h 6817170"/>
                <a:gd name="connsiteX34" fmla="*/ 2217681 w 6028697"/>
                <a:gd name="connsiteY34" fmla="*/ 6786297 h 6817170"/>
                <a:gd name="connsiteX35" fmla="*/ 2260820 w 6028697"/>
                <a:gd name="connsiteY35" fmla="*/ 6817170 h 6817170"/>
                <a:gd name="connsiteX36" fmla="*/ 1429497 w 6028697"/>
                <a:gd name="connsiteY36" fmla="*/ 6817170 h 6817170"/>
                <a:gd name="connsiteX37" fmla="*/ 1327275 w 6028697"/>
                <a:gd name="connsiteY37" fmla="*/ 6713800 h 6817170"/>
                <a:gd name="connsiteX38" fmla="*/ 1080556 w 6028697"/>
                <a:gd name="connsiteY38" fmla="*/ 6414443 h 6817170"/>
                <a:gd name="connsiteX39" fmla="*/ 865189 w 6028697"/>
                <a:gd name="connsiteY39" fmla="*/ 6097496 h 6817170"/>
                <a:gd name="connsiteX40" fmla="*/ 814823 w 6028697"/>
                <a:gd name="connsiteY40" fmla="*/ 6016911 h 6817170"/>
                <a:gd name="connsiteX41" fmla="*/ 766729 w 6028697"/>
                <a:gd name="connsiteY41" fmla="*/ 5938453 h 6817170"/>
                <a:gd name="connsiteX42" fmla="*/ 671672 w 6028697"/>
                <a:gd name="connsiteY42" fmla="*/ 5786648 h 6817170"/>
                <a:gd name="connsiteX43" fmla="*/ 474608 w 6028697"/>
                <a:gd name="connsiteY43" fmla="*/ 5474664 h 6817170"/>
                <a:gd name="connsiteX44" fmla="*/ 282652 w 6028697"/>
                <a:gd name="connsiteY44" fmla="*/ 5146508 h 6817170"/>
                <a:gd name="connsiteX45" fmla="*/ 196108 w 6028697"/>
                <a:gd name="connsiteY45" fmla="*/ 4972712 h 6817170"/>
                <a:gd name="connsiteX46" fmla="*/ 122474 w 6028697"/>
                <a:gd name="connsiteY46" fmla="*/ 4791821 h 6817170"/>
                <a:gd name="connsiteX47" fmla="*/ 65724 w 6028697"/>
                <a:gd name="connsiteY47" fmla="*/ 4603129 h 6817170"/>
                <a:gd name="connsiteX48" fmla="*/ 44727 w 6028697"/>
                <a:gd name="connsiteY48" fmla="*/ 4506937 h 6817170"/>
                <a:gd name="connsiteX49" fmla="*/ 35505 w 6028697"/>
                <a:gd name="connsiteY49" fmla="*/ 4458699 h 6817170"/>
                <a:gd name="connsiteX50" fmla="*/ 27845 w 6028697"/>
                <a:gd name="connsiteY50" fmla="*/ 4410320 h 6817170"/>
                <a:gd name="connsiteX51" fmla="*/ 37 w 6028697"/>
                <a:gd name="connsiteY51" fmla="*/ 4022292 h 6817170"/>
                <a:gd name="connsiteX52" fmla="*/ 78777 w 6028697"/>
                <a:gd name="connsiteY52" fmla="*/ 3267236 h 6817170"/>
                <a:gd name="connsiteX53" fmla="*/ 315424 w 6028697"/>
                <a:gd name="connsiteY53" fmla="*/ 2543673 h 6817170"/>
                <a:gd name="connsiteX54" fmla="*/ 1202710 w 6028697"/>
                <a:gd name="connsiteY54" fmla="*/ 1314895 h 6817170"/>
                <a:gd name="connsiteX55" fmla="*/ 1791065 w 6028697"/>
                <a:gd name="connsiteY55" fmla="*/ 833514 h 6817170"/>
                <a:gd name="connsiteX56" fmla="*/ 3908404 w 6028697"/>
                <a:gd name="connsiteY56" fmla="*/ 29794 h 6817170"/>
                <a:gd name="connsiteX57" fmla="*/ 4481066 w 6028697"/>
                <a:gd name="connsiteY57" fmla="*/ 478 h 6817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6028697" h="6817170">
                  <a:moveTo>
                    <a:pt x="6028697" y="6155323"/>
                  </a:moveTo>
                  <a:lnTo>
                    <a:pt x="6028697" y="6817170"/>
                  </a:lnTo>
                  <a:lnTo>
                    <a:pt x="5157862" y="6817170"/>
                  </a:lnTo>
                  <a:lnTo>
                    <a:pt x="5347156" y="6687553"/>
                  </a:lnTo>
                  <a:cubicBezTo>
                    <a:pt x="5394117" y="6653219"/>
                    <a:pt x="5440793" y="6617608"/>
                    <a:pt x="5487470" y="6581714"/>
                  </a:cubicBezTo>
                  <a:cubicBezTo>
                    <a:pt x="5534147" y="6545820"/>
                    <a:pt x="5580966" y="6509358"/>
                    <a:pt x="5627642" y="6472328"/>
                  </a:cubicBezTo>
                  <a:lnTo>
                    <a:pt x="5911392" y="6245328"/>
                  </a:lnTo>
                  <a:close/>
                  <a:moveTo>
                    <a:pt x="4481066" y="478"/>
                  </a:moveTo>
                  <a:cubicBezTo>
                    <a:pt x="4544817" y="1422"/>
                    <a:pt x="4608563" y="3769"/>
                    <a:pt x="4672258" y="7519"/>
                  </a:cubicBezTo>
                  <a:cubicBezTo>
                    <a:pt x="4927973" y="22364"/>
                    <a:pt x="5181687" y="61751"/>
                    <a:pt x="5429869" y="125134"/>
                  </a:cubicBezTo>
                  <a:cubicBezTo>
                    <a:pt x="5617090" y="173104"/>
                    <a:pt x="5799867" y="236595"/>
                    <a:pt x="5976319" y="314893"/>
                  </a:cubicBezTo>
                  <a:lnTo>
                    <a:pt x="6028697" y="339901"/>
                  </a:lnTo>
                  <a:lnTo>
                    <a:pt x="6028697" y="732458"/>
                  </a:lnTo>
                  <a:lnTo>
                    <a:pt x="5990985" y="712211"/>
                  </a:lnTo>
                  <a:cubicBezTo>
                    <a:pt x="5783917" y="609342"/>
                    <a:pt x="5566013" y="529876"/>
                    <a:pt x="5341339" y="475281"/>
                  </a:cubicBezTo>
                  <a:cubicBezTo>
                    <a:pt x="5115233" y="420503"/>
                    <a:pt x="4884375" y="387624"/>
                    <a:pt x="4651969" y="377104"/>
                  </a:cubicBezTo>
                  <a:cubicBezTo>
                    <a:pt x="4418713" y="365171"/>
                    <a:pt x="4184861" y="373670"/>
                    <a:pt x="3953093" y="402498"/>
                  </a:cubicBezTo>
                  <a:cubicBezTo>
                    <a:pt x="3721001" y="431832"/>
                    <a:pt x="3491675" y="480040"/>
                    <a:pt x="3267413" y="546643"/>
                  </a:cubicBezTo>
                  <a:cubicBezTo>
                    <a:pt x="2591323" y="750761"/>
                    <a:pt x="1967642" y="1099289"/>
                    <a:pt x="1439498" y="1568141"/>
                  </a:cubicBezTo>
                  <a:cubicBezTo>
                    <a:pt x="1265589" y="1725523"/>
                    <a:pt x="1105393" y="1897434"/>
                    <a:pt x="960671" y="2082013"/>
                  </a:cubicBezTo>
                  <a:cubicBezTo>
                    <a:pt x="815775" y="2266294"/>
                    <a:pt x="688923" y="2464081"/>
                    <a:pt x="581866" y="2672638"/>
                  </a:cubicBezTo>
                  <a:cubicBezTo>
                    <a:pt x="473765" y="2880669"/>
                    <a:pt x="387610" y="3099397"/>
                    <a:pt x="324789" y="3325262"/>
                  </a:cubicBezTo>
                  <a:cubicBezTo>
                    <a:pt x="262714" y="3552403"/>
                    <a:pt x="231223" y="3786822"/>
                    <a:pt x="231151" y="4022292"/>
                  </a:cubicBezTo>
                  <a:cubicBezTo>
                    <a:pt x="231413" y="4136912"/>
                    <a:pt x="244645" y="4251136"/>
                    <a:pt x="270592" y="4362792"/>
                  </a:cubicBezTo>
                  <a:cubicBezTo>
                    <a:pt x="297885" y="4472943"/>
                    <a:pt x="336983" y="4579833"/>
                    <a:pt x="387213" y="4681585"/>
                  </a:cubicBezTo>
                  <a:cubicBezTo>
                    <a:pt x="412042" y="4732517"/>
                    <a:pt x="439423" y="4782457"/>
                    <a:pt x="468507" y="4831546"/>
                  </a:cubicBezTo>
                  <a:cubicBezTo>
                    <a:pt x="497591" y="4880636"/>
                    <a:pt x="529230" y="4929015"/>
                    <a:pt x="561862" y="4976826"/>
                  </a:cubicBezTo>
                  <a:cubicBezTo>
                    <a:pt x="627975" y="5072166"/>
                    <a:pt x="701466" y="5164668"/>
                    <a:pt x="777511" y="5257597"/>
                  </a:cubicBezTo>
                  <a:cubicBezTo>
                    <a:pt x="853556" y="5350524"/>
                    <a:pt x="933574" y="5443594"/>
                    <a:pt x="1010895" y="5540494"/>
                  </a:cubicBezTo>
                  <a:cubicBezTo>
                    <a:pt x="1049957" y="5588732"/>
                    <a:pt x="1088642" y="5637963"/>
                    <a:pt x="1126948" y="5688186"/>
                  </a:cubicBezTo>
                  <a:lnTo>
                    <a:pt x="1182706" y="5760543"/>
                  </a:lnTo>
                  <a:cubicBezTo>
                    <a:pt x="1201007" y="5783669"/>
                    <a:pt x="1218458" y="5807503"/>
                    <a:pt x="1237327" y="5830060"/>
                  </a:cubicBezTo>
                  <a:cubicBezTo>
                    <a:pt x="1383714" y="6009916"/>
                    <a:pt x="1540413" y="6181116"/>
                    <a:pt x="1706649" y="6342797"/>
                  </a:cubicBezTo>
                  <a:cubicBezTo>
                    <a:pt x="1788084" y="6422531"/>
                    <a:pt x="1871265" y="6499427"/>
                    <a:pt x="1956207" y="6573484"/>
                  </a:cubicBezTo>
                  <a:cubicBezTo>
                    <a:pt x="2041332" y="6647402"/>
                    <a:pt x="2127733" y="6718907"/>
                    <a:pt x="2217681" y="6786297"/>
                  </a:cubicBezTo>
                  <a:lnTo>
                    <a:pt x="2260820" y="6817170"/>
                  </a:lnTo>
                  <a:lnTo>
                    <a:pt x="1429497" y="6817170"/>
                  </a:lnTo>
                  <a:lnTo>
                    <a:pt x="1327275" y="6713800"/>
                  </a:lnTo>
                  <a:cubicBezTo>
                    <a:pt x="1239186" y="6618984"/>
                    <a:pt x="1156797" y="6519019"/>
                    <a:pt x="1080556" y="6414443"/>
                  </a:cubicBezTo>
                  <a:cubicBezTo>
                    <a:pt x="1004653" y="6310734"/>
                    <a:pt x="932439" y="6205177"/>
                    <a:pt x="865189" y="6097496"/>
                  </a:cubicBezTo>
                  <a:cubicBezTo>
                    <a:pt x="847881" y="6070823"/>
                    <a:pt x="831565" y="6043725"/>
                    <a:pt x="814823" y="6016911"/>
                  </a:cubicBezTo>
                  <a:lnTo>
                    <a:pt x="766729" y="5938453"/>
                  </a:lnTo>
                  <a:cubicBezTo>
                    <a:pt x="735941" y="5887947"/>
                    <a:pt x="703878" y="5837581"/>
                    <a:pt x="671672" y="5786648"/>
                  </a:cubicBezTo>
                  <a:lnTo>
                    <a:pt x="474608" y="5474664"/>
                  </a:lnTo>
                  <a:cubicBezTo>
                    <a:pt x="408778" y="5368968"/>
                    <a:pt x="343516" y="5260008"/>
                    <a:pt x="282652" y="5146508"/>
                  </a:cubicBezTo>
                  <a:cubicBezTo>
                    <a:pt x="252290" y="5089759"/>
                    <a:pt x="223065" y="5032015"/>
                    <a:pt x="196108" y="4972712"/>
                  </a:cubicBezTo>
                  <a:cubicBezTo>
                    <a:pt x="169152" y="4913408"/>
                    <a:pt x="144607" y="4853111"/>
                    <a:pt x="122474" y="4791821"/>
                  </a:cubicBezTo>
                  <a:cubicBezTo>
                    <a:pt x="100342" y="4730532"/>
                    <a:pt x="81757" y="4666830"/>
                    <a:pt x="65724" y="4603129"/>
                  </a:cubicBezTo>
                  <a:cubicBezTo>
                    <a:pt x="58205" y="4571064"/>
                    <a:pt x="50828" y="4539143"/>
                    <a:pt x="44727" y="4506937"/>
                  </a:cubicBezTo>
                  <a:lnTo>
                    <a:pt x="35505" y="4458699"/>
                  </a:lnTo>
                  <a:lnTo>
                    <a:pt x="27845" y="4410320"/>
                  </a:lnTo>
                  <a:cubicBezTo>
                    <a:pt x="8635" y="4281881"/>
                    <a:pt x="-661" y="4152150"/>
                    <a:pt x="37" y="4022292"/>
                  </a:cubicBezTo>
                  <a:cubicBezTo>
                    <a:pt x="712" y="3768592"/>
                    <a:pt x="27094" y="3515615"/>
                    <a:pt x="78777" y="3267236"/>
                  </a:cubicBezTo>
                  <a:cubicBezTo>
                    <a:pt x="130048" y="3017876"/>
                    <a:pt x="209439" y="2775142"/>
                    <a:pt x="315424" y="2543673"/>
                  </a:cubicBezTo>
                  <a:cubicBezTo>
                    <a:pt x="528236" y="2081161"/>
                    <a:pt x="838234" y="1667312"/>
                    <a:pt x="1202710" y="1314895"/>
                  </a:cubicBezTo>
                  <a:cubicBezTo>
                    <a:pt x="1385514" y="1138814"/>
                    <a:pt x="1582282" y="977831"/>
                    <a:pt x="1791065" y="833514"/>
                  </a:cubicBezTo>
                  <a:cubicBezTo>
                    <a:pt x="2420037" y="395614"/>
                    <a:pt x="3147288" y="119557"/>
                    <a:pt x="3908404" y="29794"/>
                  </a:cubicBezTo>
                  <a:cubicBezTo>
                    <a:pt x="4098509" y="7429"/>
                    <a:pt x="4289811" y="-2355"/>
                    <a:pt x="4481066" y="47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C72F6EE6-EDE9-45A5-8F6D-02B9B7CB2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1"/>
              <a:ext cx="6165116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C093DC50-3BD7-46B1-A300-CD207E152F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-5977"/>
              <a:ext cx="6238675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4" name="Text 1">
            <a:extLst>
              <a:ext uri="{FF2B5EF4-FFF2-40B4-BE49-F238E27FC236}">
                <a16:creationId xmlns:a16="http://schemas.microsoft.com/office/drawing/2014/main" id="{C28B2053-59CE-3439-FC33-1EFAC7C20FFC}"/>
              </a:ext>
            </a:extLst>
          </p:cNvPr>
          <p:cNvSpPr/>
          <p:nvPr/>
        </p:nvSpPr>
        <p:spPr>
          <a:xfrm>
            <a:off x="-77812" y="623363"/>
            <a:ext cx="2700019" cy="815257"/>
          </a:xfrm>
          <a:prstGeom prst="ellipse">
            <a:avLst/>
          </a:prstGeom>
        </p:spPr>
        <p:txBody>
          <a:bodyPr vert="horz" lIns="91440" tIns="45720" rIns="91440" bIns="45720" rtlCol="0" anchor="t">
            <a:normAutofit fontScale="77500" lnSpcReduction="20000"/>
          </a:bodyPr>
          <a:lstStyle/>
          <a:p>
            <a:pPr marL="0" inden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400" b="1" u="sng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Pivot </a:t>
            </a:r>
            <a:r>
              <a:rPr lang="en-US" sz="3400" b="1" u="sng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Chart</a:t>
            </a:r>
            <a:r>
              <a:rPr lang="en-US" sz="3400" b="1" u="sng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:-</a:t>
            </a:r>
            <a:endParaRPr lang="en-US" sz="3400" u="sng" kern="120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7" name="Text 16">
            <a:extLst>
              <a:ext uri="{FF2B5EF4-FFF2-40B4-BE49-F238E27FC236}">
                <a16:creationId xmlns:a16="http://schemas.microsoft.com/office/drawing/2014/main" id="{6E96122F-06E1-F576-EE46-5F589159B78D}"/>
              </a:ext>
            </a:extLst>
          </p:cNvPr>
          <p:cNvSpPr/>
          <p:nvPr/>
        </p:nvSpPr>
        <p:spPr>
          <a:xfrm>
            <a:off x="36576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Hospital Billing &amp; Operations Analytics</a:t>
            </a:r>
            <a:endParaRPr lang="en-US" sz="900" dirty="0"/>
          </a:p>
        </p:txBody>
      </p:sp>
      <p:sp>
        <p:nvSpPr>
          <p:cNvPr id="8" name="Shape 9">
            <a:extLst>
              <a:ext uri="{FF2B5EF4-FFF2-40B4-BE49-F238E27FC236}">
                <a16:creationId xmlns:a16="http://schemas.microsoft.com/office/drawing/2014/main" id="{719A351B-60B1-EF2D-0201-1C32AC8BB73B}"/>
              </a:ext>
            </a:extLst>
          </p:cNvPr>
          <p:cNvSpPr/>
          <p:nvPr/>
        </p:nvSpPr>
        <p:spPr>
          <a:xfrm>
            <a:off x="215830" y="1632857"/>
            <a:ext cx="5880017" cy="4506685"/>
          </a:xfrm>
          <a:prstGeom prst="roundRect">
            <a:avLst>
              <a:gd name="adj" fmla="val 1818"/>
            </a:avLst>
          </a:prstGeom>
          <a:solidFill>
            <a:srgbClr val="F7F9FA"/>
          </a:solidFill>
          <a:ln w="12700">
            <a:solidFill>
              <a:srgbClr val="DFE5E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graphicFrame>
        <p:nvGraphicFramePr>
          <p:cNvPr id="11" name="Chart 10">
            <a:extLst>
              <a:ext uri="{FF2B5EF4-FFF2-40B4-BE49-F238E27FC236}">
                <a16:creationId xmlns:a16="http://schemas.microsoft.com/office/drawing/2014/main" id="{9F630916-5B9C-1A28-D3E1-2AFF52ACECA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88721866"/>
              </p:ext>
            </p:extLst>
          </p:nvPr>
        </p:nvGraphicFramePr>
        <p:xfrm>
          <a:off x="152400" y="1697277"/>
          <a:ext cx="5405120" cy="437784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0" name="Shape 9">
            <a:extLst>
              <a:ext uri="{FF2B5EF4-FFF2-40B4-BE49-F238E27FC236}">
                <a16:creationId xmlns:a16="http://schemas.microsoft.com/office/drawing/2014/main" id="{79CCD432-5AC7-E7C4-E6E3-5673940E45F0}"/>
              </a:ext>
            </a:extLst>
          </p:cNvPr>
          <p:cNvSpPr/>
          <p:nvPr/>
        </p:nvSpPr>
        <p:spPr>
          <a:xfrm>
            <a:off x="6615404" y="2015618"/>
            <a:ext cx="5360766" cy="3554758"/>
          </a:xfrm>
          <a:prstGeom prst="roundRect">
            <a:avLst>
              <a:gd name="adj" fmla="val 1818"/>
            </a:avLst>
          </a:prstGeom>
          <a:solidFill>
            <a:srgbClr val="F7F9FA"/>
          </a:solidFill>
          <a:ln w="12700">
            <a:solidFill>
              <a:srgbClr val="DFE5E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D64F6932-331D-234B-9F42-0473A0222D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112628"/>
              </p:ext>
            </p:extLst>
          </p:nvPr>
        </p:nvGraphicFramePr>
        <p:xfrm>
          <a:off x="6838158" y="2711918"/>
          <a:ext cx="4749800" cy="25509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12900">
                  <a:extLst>
                    <a:ext uri="{9D8B030D-6E8A-4147-A177-3AD203B41FA5}">
                      <a16:colId xmlns:a16="http://schemas.microsoft.com/office/drawing/2014/main" val="944040743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485175982"/>
                    </a:ext>
                  </a:extLst>
                </a:gridCol>
                <a:gridCol w="711200">
                  <a:extLst>
                    <a:ext uri="{9D8B030D-6E8A-4147-A177-3AD203B41FA5}">
                      <a16:colId xmlns:a16="http://schemas.microsoft.com/office/drawing/2014/main" val="525180732"/>
                    </a:ext>
                  </a:extLst>
                </a:gridCol>
                <a:gridCol w="622300">
                  <a:extLst>
                    <a:ext uri="{9D8B030D-6E8A-4147-A177-3AD203B41FA5}">
                      <a16:colId xmlns:a16="http://schemas.microsoft.com/office/drawing/2014/main" val="188101605"/>
                    </a:ext>
                  </a:extLst>
                </a:gridCol>
                <a:gridCol w="736600">
                  <a:extLst>
                    <a:ext uri="{9D8B030D-6E8A-4147-A177-3AD203B41FA5}">
                      <a16:colId xmlns:a16="http://schemas.microsoft.com/office/drawing/2014/main" val="1188531142"/>
                    </a:ext>
                  </a:extLst>
                </a:gridCol>
              </a:tblGrid>
              <a:tr h="31887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Row Labels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Elective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Emergency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Urgent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Grand Total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814002078"/>
                  </a:ext>
                </a:extLst>
              </a:tr>
              <a:tr h="31887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Arthritis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25,479.59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25,497.11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25,558.38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25,511.78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521266876"/>
                  </a:ext>
                </a:extLst>
              </a:tr>
              <a:tr h="31887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Asthma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25,253.91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25,893.70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25,761.37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25,633.46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829471760"/>
                  </a:ext>
                </a:extLst>
              </a:tr>
              <a:tr h="31887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Cancer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25,671.84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24,867.22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24,900.21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25,152.32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4244906956"/>
                  </a:ext>
                </a:extLst>
              </a:tr>
              <a:tr h="31887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Diabetes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26,032.12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25,471.61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25,484.65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25,660.48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793966921"/>
                  </a:ext>
                </a:extLst>
              </a:tr>
              <a:tr h="31887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Hypertension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25,555.09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25,471.37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25,479.25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25,503.06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146033620"/>
                  </a:ext>
                </a:extLst>
              </a:tr>
              <a:tr h="31887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Obesity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25,687.73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25,820.55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25,903.82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25,804.36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20358151"/>
                  </a:ext>
                </a:extLst>
              </a:tr>
              <a:tr h="31887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Grand Total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25,612.14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25,505.33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25,514.53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 dirty="0">
                          <a:effectLst/>
                        </a:rPr>
                        <a:t>25,544.31</a:t>
                      </a:r>
                      <a:endParaRPr lang="en-IN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4136897802"/>
                  </a:ext>
                </a:extLst>
              </a:tr>
            </a:tbl>
          </a:graphicData>
        </a:graphic>
      </p:graphicFrame>
      <p:sp>
        <p:nvSpPr>
          <p:cNvPr id="4" name="Text 1">
            <a:extLst>
              <a:ext uri="{FF2B5EF4-FFF2-40B4-BE49-F238E27FC236}">
                <a16:creationId xmlns:a16="http://schemas.microsoft.com/office/drawing/2014/main" id="{0542917D-4218-FE3B-252D-EA0B4F18D52A}"/>
              </a:ext>
            </a:extLst>
          </p:cNvPr>
          <p:cNvSpPr/>
          <p:nvPr/>
        </p:nvSpPr>
        <p:spPr>
          <a:xfrm>
            <a:off x="7092158" y="2015618"/>
            <a:ext cx="4805996" cy="690322"/>
          </a:xfrm>
          <a:prstGeom prst="ellipse">
            <a:avLst/>
          </a:prstGeo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pPr marL="0" inden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400" b="1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Excel Pivot Table:-</a:t>
            </a:r>
            <a:endParaRPr lang="en-US" sz="3400" kern="120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74593440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" name="Rectangle 1">
            <a:extLst>
              <a:ext uri="{FF2B5EF4-FFF2-40B4-BE49-F238E27FC236}">
                <a16:creationId xmlns:a16="http://schemas.microsoft.com/office/drawing/2014/main" id="{CD6C6C4F-0AA2-64A1-53D4-0E8D33F9A5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1695" cy="68520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CC5DD54-D01A-525C-C870-8CB1C9DE59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8A0480EF-2AEF-12EE-007D-01CFDFF57E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253" y="-5977"/>
            <a:ext cx="6238675" cy="6863979"/>
            <a:chOff x="305" y="-5977"/>
            <a:chExt cx="6238675" cy="6863979"/>
          </a:xfrm>
        </p:grpSpPr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FDD2ED56-C969-1B86-C455-7D181B0F8D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34854"/>
              <a:ext cx="6028697" cy="6817170"/>
            </a:xfrm>
            <a:custGeom>
              <a:avLst/>
              <a:gdLst>
                <a:gd name="connsiteX0" fmla="*/ 6028697 w 6028697"/>
                <a:gd name="connsiteY0" fmla="*/ 6155323 h 6817170"/>
                <a:gd name="connsiteX1" fmla="*/ 6028697 w 6028697"/>
                <a:gd name="connsiteY1" fmla="*/ 6817170 h 6817170"/>
                <a:gd name="connsiteX2" fmla="*/ 5157862 w 6028697"/>
                <a:gd name="connsiteY2" fmla="*/ 6817170 h 6817170"/>
                <a:gd name="connsiteX3" fmla="*/ 5347156 w 6028697"/>
                <a:gd name="connsiteY3" fmla="*/ 6687553 h 6817170"/>
                <a:gd name="connsiteX4" fmla="*/ 5487470 w 6028697"/>
                <a:gd name="connsiteY4" fmla="*/ 6581714 h 6817170"/>
                <a:gd name="connsiteX5" fmla="*/ 5627642 w 6028697"/>
                <a:gd name="connsiteY5" fmla="*/ 6472328 h 6817170"/>
                <a:gd name="connsiteX6" fmla="*/ 5911392 w 6028697"/>
                <a:gd name="connsiteY6" fmla="*/ 6245328 h 6817170"/>
                <a:gd name="connsiteX7" fmla="*/ 4481066 w 6028697"/>
                <a:gd name="connsiteY7" fmla="*/ 478 h 6817170"/>
                <a:gd name="connsiteX8" fmla="*/ 4672258 w 6028697"/>
                <a:gd name="connsiteY8" fmla="*/ 7519 h 6817170"/>
                <a:gd name="connsiteX9" fmla="*/ 5429869 w 6028697"/>
                <a:gd name="connsiteY9" fmla="*/ 125134 h 6817170"/>
                <a:gd name="connsiteX10" fmla="*/ 5976319 w 6028697"/>
                <a:gd name="connsiteY10" fmla="*/ 314893 h 6817170"/>
                <a:gd name="connsiteX11" fmla="*/ 6028697 w 6028697"/>
                <a:gd name="connsiteY11" fmla="*/ 339901 h 6817170"/>
                <a:gd name="connsiteX12" fmla="*/ 6028697 w 6028697"/>
                <a:gd name="connsiteY12" fmla="*/ 732458 h 6817170"/>
                <a:gd name="connsiteX13" fmla="*/ 5990985 w 6028697"/>
                <a:gd name="connsiteY13" fmla="*/ 712211 h 6817170"/>
                <a:gd name="connsiteX14" fmla="*/ 5341339 w 6028697"/>
                <a:gd name="connsiteY14" fmla="*/ 475281 h 6817170"/>
                <a:gd name="connsiteX15" fmla="*/ 4651969 w 6028697"/>
                <a:gd name="connsiteY15" fmla="*/ 377104 h 6817170"/>
                <a:gd name="connsiteX16" fmla="*/ 3953093 w 6028697"/>
                <a:gd name="connsiteY16" fmla="*/ 402498 h 6817170"/>
                <a:gd name="connsiteX17" fmla="*/ 3267413 w 6028697"/>
                <a:gd name="connsiteY17" fmla="*/ 546643 h 6817170"/>
                <a:gd name="connsiteX18" fmla="*/ 1439498 w 6028697"/>
                <a:gd name="connsiteY18" fmla="*/ 1568141 h 6817170"/>
                <a:gd name="connsiteX19" fmla="*/ 960671 w 6028697"/>
                <a:gd name="connsiteY19" fmla="*/ 2082013 h 6817170"/>
                <a:gd name="connsiteX20" fmla="*/ 581866 w 6028697"/>
                <a:gd name="connsiteY20" fmla="*/ 2672638 h 6817170"/>
                <a:gd name="connsiteX21" fmla="*/ 324789 w 6028697"/>
                <a:gd name="connsiteY21" fmla="*/ 3325262 h 6817170"/>
                <a:gd name="connsiteX22" fmla="*/ 231151 w 6028697"/>
                <a:gd name="connsiteY22" fmla="*/ 4022292 h 6817170"/>
                <a:gd name="connsiteX23" fmla="*/ 270592 w 6028697"/>
                <a:gd name="connsiteY23" fmla="*/ 4362792 h 6817170"/>
                <a:gd name="connsiteX24" fmla="*/ 387213 w 6028697"/>
                <a:gd name="connsiteY24" fmla="*/ 4681585 h 6817170"/>
                <a:gd name="connsiteX25" fmla="*/ 468507 w 6028697"/>
                <a:gd name="connsiteY25" fmla="*/ 4831546 h 6817170"/>
                <a:gd name="connsiteX26" fmla="*/ 561862 w 6028697"/>
                <a:gd name="connsiteY26" fmla="*/ 4976826 h 6817170"/>
                <a:gd name="connsiteX27" fmla="*/ 777511 w 6028697"/>
                <a:gd name="connsiteY27" fmla="*/ 5257597 h 6817170"/>
                <a:gd name="connsiteX28" fmla="*/ 1010895 w 6028697"/>
                <a:gd name="connsiteY28" fmla="*/ 5540494 h 6817170"/>
                <a:gd name="connsiteX29" fmla="*/ 1126948 w 6028697"/>
                <a:gd name="connsiteY29" fmla="*/ 5688186 h 6817170"/>
                <a:gd name="connsiteX30" fmla="*/ 1182706 w 6028697"/>
                <a:gd name="connsiteY30" fmla="*/ 5760543 h 6817170"/>
                <a:gd name="connsiteX31" fmla="*/ 1237327 w 6028697"/>
                <a:gd name="connsiteY31" fmla="*/ 5830060 h 6817170"/>
                <a:gd name="connsiteX32" fmla="*/ 1706649 w 6028697"/>
                <a:gd name="connsiteY32" fmla="*/ 6342797 h 6817170"/>
                <a:gd name="connsiteX33" fmla="*/ 1956207 w 6028697"/>
                <a:gd name="connsiteY33" fmla="*/ 6573484 h 6817170"/>
                <a:gd name="connsiteX34" fmla="*/ 2217681 w 6028697"/>
                <a:gd name="connsiteY34" fmla="*/ 6786297 h 6817170"/>
                <a:gd name="connsiteX35" fmla="*/ 2260820 w 6028697"/>
                <a:gd name="connsiteY35" fmla="*/ 6817170 h 6817170"/>
                <a:gd name="connsiteX36" fmla="*/ 1429497 w 6028697"/>
                <a:gd name="connsiteY36" fmla="*/ 6817170 h 6817170"/>
                <a:gd name="connsiteX37" fmla="*/ 1327275 w 6028697"/>
                <a:gd name="connsiteY37" fmla="*/ 6713800 h 6817170"/>
                <a:gd name="connsiteX38" fmla="*/ 1080556 w 6028697"/>
                <a:gd name="connsiteY38" fmla="*/ 6414443 h 6817170"/>
                <a:gd name="connsiteX39" fmla="*/ 865189 w 6028697"/>
                <a:gd name="connsiteY39" fmla="*/ 6097496 h 6817170"/>
                <a:gd name="connsiteX40" fmla="*/ 814823 w 6028697"/>
                <a:gd name="connsiteY40" fmla="*/ 6016911 h 6817170"/>
                <a:gd name="connsiteX41" fmla="*/ 766729 w 6028697"/>
                <a:gd name="connsiteY41" fmla="*/ 5938453 h 6817170"/>
                <a:gd name="connsiteX42" fmla="*/ 671672 w 6028697"/>
                <a:gd name="connsiteY42" fmla="*/ 5786648 h 6817170"/>
                <a:gd name="connsiteX43" fmla="*/ 474608 w 6028697"/>
                <a:gd name="connsiteY43" fmla="*/ 5474664 h 6817170"/>
                <a:gd name="connsiteX44" fmla="*/ 282652 w 6028697"/>
                <a:gd name="connsiteY44" fmla="*/ 5146508 h 6817170"/>
                <a:gd name="connsiteX45" fmla="*/ 196108 w 6028697"/>
                <a:gd name="connsiteY45" fmla="*/ 4972712 h 6817170"/>
                <a:gd name="connsiteX46" fmla="*/ 122474 w 6028697"/>
                <a:gd name="connsiteY46" fmla="*/ 4791821 h 6817170"/>
                <a:gd name="connsiteX47" fmla="*/ 65724 w 6028697"/>
                <a:gd name="connsiteY47" fmla="*/ 4603129 h 6817170"/>
                <a:gd name="connsiteX48" fmla="*/ 44727 w 6028697"/>
                <a:gd name="connsiteY48" fmla="*/ 4506937 h 6817170"/>
                <a:gd name="connsiteX49" fmla="*/ 35505 w 6028697"/>
                <a:gd name="connsiteY49" fmla="*/ 4458699 h 6817170"/>
                <a:gd name="connsiteX50" fmla="*/ 27845 w 6028697"/>
                <a:gd name="connsiteY50" fmla="*/ 4410320 h 6817170"/>
                <a:gd name="connsiteX51" fmla="*/ 37 w 6028697"/>
                <a:gd name="connsiteY51" fmla="*/ 4022292 h 6817170"/>
                <a:gd name="connsiteX52" fmla="*/ 78777 w 6028697"/>
                <a:gd name="connsiteY52" fmla="*/ 3267236 h 6817170"/>
                <a:gd name="connsiteX53" fmla="*/ 315424 w 6028697"/>
                <a:gd name="connsiteY53" fmla="*/ 2543673 h 6817170"/>
                <a:gd name="connsiteX54" fmla="*/ 1202710 w 6028697"/>
                <a:gd name="connsiteY54" fmla="*/ 1314895 h 6817170"/>
                <a:gd name="connsiteX55" fmla="*/ 1791065 w 6028697"/>
                <a:gd name="connsiteY55" fmla="*/ 833514 h 6817170"/>
                <a:gd name="connsiteX56" fmla="*/ 3908404 w 6028697"/>
                <a:gd name="connsiteY56" fmla="*/ 29794 h 6817170"/>
                <a:gd name="connsiteX57" fmla="*/ 4481066 w 6028697"/>
                <a:gd name="connsiteY57" fmla="*/ 478 h 6817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6028697" h="6817170">
                  <a:moveTo>
                    <a:pt x="6028697" y="6155323"/>
                  </a:moveTo>
                  <a:lnTo>
                    <a:pt x="6028697" y="6817170"/>
                  </a:lnTo>
                  <a:lnTo>
                    <a:pt x="5157862" y="6817170"/>
                  </a:lnTo>
                  <a:lnTo>
                    <a:pt x="5347156" y="6687553"/>
                  </a:lnTo>
                  <a:cubicBezTo>
                    <a:pt x="5394117" y="6653219"/>
                    <a:pt x="5440793" y="6617608"/>
                    <a:pt x="5487470" y="6581714"/>
                  </a:cubicBezTo>
                  <a:cubicBezTo>
                    <a:pt x="5534147" y="6545820"/>
                    <a:pt x="5580966" y="6509358"/>
                    <a:pt x="5627642" y="6472328"/>
                  </a:cubicBezTo>
                  <a:lnTo>
                    <a:pt x="5911392" y="6245328"/>
                  </a:lnTo>
                  <a:close/>
                  <a:moveTo>
                    <a:pt x="4481066" y="478"/>
                  </a:moveTo>
                  <a:cubicBezTo>
                    <a:pt x="4544817" y="1422"/>
                    <a:pt x="4608563" y="3769"/>
                    <a:pt x="4672258" y="7519"/>
                  </a:cubicBezTo>
                  <a:cubicBezTo>
                    <a:pt x="4927973" y="22364"/>
                    <a:pt x="5181687" y="61751"/>
                    <a:pt x="5429869" y="125134"/>
                  </a:cubicBezTo>
                  <a:cubicBezTo>
                    <a:pt x="5617090" y="173104"/>
                    <a:pt x="5799867" y="236595"/>
                    <a:pt x="5976319" y="314893"/>
                  </a:cubicBezTo>
                  <a:lnTo>
                    <a:pt x="6028697" y="339901"/>
                  </a:lnTo>
                  <a:lnTo>
                    <a:pt x="6028697" y="732458"/>
                  </a:lnTo>
                  <a:lnTo>
                    <a:pt x="5990985" y="712211"/>
                  </a:lnTo>
                  <a:cubicBezTo>
                    <a:pt x="5783917" y="609342"/>
                    <a:pt x="5566013" y="529876"/>
                    <a:pt x="5341339" y="475281"/>
                  </a:cubicBezTo>
                  <a:cubicBezTo>
                    <a:pt x="5115233" y="420503"/>
                    <a:pt x="4884375" y="387624"/>
                    <a:pt x="4651969" y="377104"/>
                  </a:cubicBezTo>
                  <a:cubicBezTo>
                    <a:pt x="4418713" y="365171"/>
                    <a:pt x="4184861" y="373670"/>
                    <a:pt x="3953093" y="402498"/>
                  </a:cubicBezTo>
                  <a:cubicBezTo>
                    <a:pt x="3721001" y="431832"/>
                    <a:pt x="3491675" y="480040"/>
                    <a:pt x="3267413" y="546643"/>
                  </a:cubicBezTo>
                  <a:cubicBezTo>
                    <a:pt x="2591323" y="750761"/>
                    <a:pt x="1967642" y="1099289"/>
                    <a:pt x="1439498" y="1568141"/>
                  </a:cubicBezTo>
                  <a:cubicBezTo>
                    <a:pt x="1265589" y="1725523"/>
                    <a:pt x="1105393" y="1897434"/>
                    <a:pt x="960671" y="2082013"/>
                  </a:cubicBezTo>
                  <a:cubicBezTo>
                    <a:pt x="815775" y="2266294"/>
                    <a:pt x="688923" y="2464081"/>
                    <a:pt x="581866" y="2672638"/>
                  </a:cubicBezTo>
                  <a:cubicBezTo>
                    <a:pt x="473765" y="2880669"/>
                    <a:pt x="387610" y="3099397"/>
                    <a:pt x="324789" y="3325262"/>
                  </a:cubicBezTo>
                  <a:cubicBezTo>
                    <a:pt x="262714" y="3552403"/>
                    <a:pt x="231223" y="3786822"/>
                    <a:pt x="231151" y="4022292"/>
                  </a:cubicBezTo>
                  <a:cubicBezTo>
                    <a:pt x="231413" y="4136912"/>
                    <a:pt x="244645" y="4251136"/>
                    <a:pt x="270592" y="4362792"/>
                  </a:cubicBezTo>
                  <a:cubicBezTo>
                    <a:pt x="297885" y="4472943"/>
                    <a:pt x="336983" y="4579833"/>
                    <a:pt x="387213" y="4681585"/>
                  </a:cubicBezTo>
                  <a:cubicBezTo>
                    <a:pt x="412042" y="4732517"/>
                    <a:pt x="439423" y="4782457"/>
                    <a:pt x="468507" y="4831546"/>
                  </a:cubicBezTo>
                  <a:cubicBezTo>
                    <a:pt x="497591" y="4880636"/>
                    <a:pt x="529230" y="4929015"/>
                    <a:pt x="561862" y="4976826"/>
                  </a:cubicBezTo>
                  <a:cubicBezTo>
                    <a:pt x="627975" y="5072166"/>
                    <a:pt x="701466" y="5164668"/>
                    <a:pt x="777511" y="5257597"/>
                  </a:cubicBezTo>
                  <a:cubicBezTo>
                    <a:pt x="853556" y="5350524"/>
                    <a:pt x="933574" y="5443594"/>
                    <a:pt x="1010895" y="5540494"/>
                  </a:cubicBezTo>
                  <a:cubicBezTo>
                    <a:pt x="1049957" y="5588732"/>
                    <a:pt x="1088642" y="5637963"/>
                    <a:pt x="1126948" y="5688186"/>
                  </a:cubicBezTo>
                  <a:lnTo>
                    <a:pt x="1182706" y="5760543"/>
                  </a:lnTo>
                  <a:cubicBezTo>
                    <a:pt x="1201007" y="5783669"/>
                    <a:pt x="1218458" y="5807503"/>
                    <a:pt x="1237327" y="5830060"/>
                  </a:cubicBezTo>
                  <a:cubicBezTo>
                    <a:pt x="1383714" y="6009916"/>
                    <a:pt x="1540413" y="6181116"/>
                    <a:pt x="1706649" y="6342797"/>
                  </a:cubicBezTo>
                  <a:cubicBezTo>
                    <a:pt x="1788084" y="6422531"/>
                    <a:pt x="1871265" y="6499427"/>
                    <a:pt x="1956207" y="6573484"/>
                  </a:cubicBezTo>
                  <a:cubicBezTo>
                    <a:pt x="2041332" y="6647402"/>
                    <a:pt x="2127733" y="6718907"/>
                    <a:pt x="2217681" y="6786297"/>
                  </a:cubicBezTo>
                  <a:lnTo>
                    <a:pt x="2260820" y="6817170"/>
                  </a:lnTo>
                  <a:lnTo>
                    <a:pt x="1429497" y="6817170"/>
                  </a:lnTo>
                  <a:lnTo>
                    <a:pt x="1327275" y="6713800"/>
                  </a:lnTo>
                  <a:cubicBezTo>
                    <a:pt x="1239186" y="6618984"/>
                    <a:pt x="1156797" y="6519019"/>
                    <a:pt x="1080556" y="6414443"/>
                  </a:cubicBezTo>
                  <a:cubicBezTo>
                    <a:pt x="1004653" y="6310734"/>
                    <a:pt x="932439" y="6205177"/>
                    <a:pt x="865189" y="6097496"/>
                  </a:cubicBezTo>
                  <a:cubicBezTo>
                    <a:pt x="847881" y="6070823"/>
                    <a:pt x="831565" y="6043725"/>
                    <a:pt x="814823" y="6016911"/>
                  </a:cubicBezTo>
                  <a:lnTo>
                    <a:pt x="766729" y="5938453"/>
                  </a:lnTo>
                  <a:cubicBezTo>
                    <a:pt x="735941" y="5887947"/>
                    <a:pt x="703878" y="5837581"/>
                    <a:pt x="671672" y="5786648"/>
                  </a:cubicBezTo>
                  <a:lnTo>
                    <a:pt x="474608" y="5474664"/>
                  </a:lnTo>
                  <a:cubicBezTo>
                    <a:pt x="408778" y="5368968"/>
                    <a:pt x="343516" y="5260008"/>
                    <a:pt x="282652" y="5146508"/>
                  </a:cubicBezTo>
                  <a:cubicBezTo>
                    <a:pt x="252290" y="5089759"/>
                    <a:pt x="223065" y="5032015"/>
                    <a:pt x="196108" y="4972712"/>
                  </a:cubicBezTo>
                  <a:cubicBezTo>
                    <a:pt x="169152" y="4913408"/>
                    <a:pt x="144607" y="4853111"/>
                    <a:pt x="122474" y="4791821"/>
                  </a:cubicBezTo>
                  <a:cubicBezTo>
                    <a:pt x="100342" y="4730532"/>
                    <a:pt x="81757" y="4666830"/>
                    <a:pt x="65724" y="4603129"/>
                  </a:cubicBezTo>
                  <a:cubicBezTo>
                    <a:pt x="58205" y="4571064"/>
                    <a:pt x="50828" y="4539143"/>
                    <a:pt x="44727" y="4506937"/>
                  </a:cubicBezTo>
                  <a:lnTo>
                    <a:pt x="35505" y="4458699"/>
                  </a:lnTo>
                  <a:lnTo>
                    <a:pt x="27845" y="4410320"/>
                  </a:lnTo>
                  <a:cubicBezTo>
                    <a:pt x="8635" y="4281881"/>
                    <a:pt x="-661" y="4152150"/>
                    <a:pt x="37" y="4022292"/>
                  </a:cubicBezTo>
                  <a:cubicBezTo>
                    <a:pt x="712" y="3768592"/>
                    <a:pt x="27094" y="3515615"/>
                    <a:pt x="78777" y="3267236"/>
                  </a:cubicBezTo>
                  <a:cubicBezTo>
                    <a:pt x="130048" y="3017876"/>
                    <a:pt x="209439" y="2775142"/>
                    <a:pt x="315424" y="2543673"/>
                  </a:cubicBezTo>
                  <a:cubicBezTo>
                    <a:pt x="528236" y="2081161"/>
                    <a:pt x="838234" y="1667312"/>
                    <a:pt x="1202710" y="1314895"/>
                  </a:cubicBezTo>
                  <a:cubicBezTo>
                    <a:pt x="1385514" y="1138814"/>
                    <a:pt x="1582282" y="977831"/>
                    <a:pt x="1791065" y="833514"/>
                  </a:cubicBezTo>
                  <a:cubicBezTo>
                    <a:pt x="2420037" y="395614"/>
                    <a:pt x="3147288" y="119557"/>
                    <a:pt x="3908404" y="29794"/>
                  </a:cubicBezTo>
                  <a:cubicBezTo>
                    <a:pt x="4098509" y="7429"/>
                    <a:pt x="4289811" y="-2355"/>
                    <a:pt x="4481066" y="47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F094667E-0032-EB11-1FCA-FCF347C680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1"/>
              <a:ext cx="6165116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6F2031E2-6E9D-F134-8CAD-821F9576BA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-5977"/>
              <a:ext cx="6238675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1" name="Text 1">
            <a:extLst>
              <a:ext uri="{FF2B5EF4-FFF2-40B4-BE49-F238E27FC236}">
                <a16:creationId xmlns:a16="http://schemas.microsoft.com/office/drawing/2014/main" id="{60B6653D-B811-F698-F96C-7B61E39911A7}"/>
              </a:ext>
            </a:extLst>
          </p:cNvPr>
          <p:cNvSpPr/>
          <p:nvPr/>
        </p:nvSpPr>
        <p:spPr>
          <a:xfrm>
            <a:off x="-77812" y="379319"/>
            <a:ext cx="2700019" cy="815257"/>
          </a:xfrm>
          <a:prstGeom prst="ellipse">
            <a:avLst/>
          </a:prstGeom>
        </p:spPr>
        <p:txBody>
          <a:bodyPr vert="horz" lIns="91440" tIns="45720" rIns="91440" bIns="45720" rtlCol="0" anchor="t">
            <a:normAutofit fontScale="77500" lnSpcReduction="20000"/>
          </a:bodyPr>
          <a:lstStyle/>
          <a:p>
            <a:pPr marL="0" inden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400" b="1" u="sng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Pivot </a:t>
            </a:r>
            <a:r>
              <a:rPr lang="en-US" sz="3400" b="1" u="sng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Chart</a:t>
            </a:r>
            <a:r>
              <a:rPr lang="en-US" sz="3400" b="1" u="sng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:-</a:t>
            </a:r>
            <a:endParaRPr lang="en-US" sz="3400" u="sng" kern="120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2" name="Text 16">
            <a:extLst>
              <a:ext uri="{FF2B5EF4-FFF2-40B4-BE49-F238E27FC236}">
                <a16:creationId xmlns:a16="http://schemas.microsoft.com/office/drawing/2014/main" id="{4CD3FBE2-5BF1-7B65-CC50-5217553AB53C}"/>
              </a:ext>
            </a:extLst>
          </p:cNvPr>
          <p:cNvSpPr/>
          <p:nvPr/>
        </p:nvSpPr>
        <p:spPr>
          <a:xfrm>
            <a:off x="36576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Hospital Billing &amp; Operations Analytics</a:t>
            </a:r>
            <a:endParaRPr lang="en-US" sz="900" dirty="0"/>
          </a:p>
        </p:txBody>
      </p:sp>
      <p:sp>
        <p:nvSpPr>
          <p:cNvPr id="19" name="Shape 9">
            <a:extLst>
              <a:ext uri="{FF2B5EF4-FFF2-40B4-BE49-F238E27FC236}">
                <a16:creationId xmlns:a16="http://schemas.microsoft.com/office/drawing/2014/main" id="{5C49BA03-9F01-1E1F-FCEA-83C92E2853A8}"/>
              </a:ext>
            </a:extLst>
          </p:cNvPr>
          <p:cNvSpPr/>
          <p:nvPr/>
        </p:nvSpPr>
        <p:spPr>
          <a:xfrm>
            <a:off x="345238" y="924255"/>
            <a:ext cx="6768186" cy="5598921"/>
          </a:xfrm>
          <a:prstGeom prst="roundRect">
            <a:avLst>
              <a:gd name="adj" fmla="val 1818"/>
            </a:avLst>
          </a:prstGeom>
          <a:solidFill>
            <a:srgbClr val="F7F9FA"/>
          </a:solidFill>
          <a:ln w="12700">
            <a:solidFill>
              <a:srgbClr val="DFE5E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graphicFrame>
        <p:nvGraphicFramePr>
          <p:cNvPr id="15" name="Chart 14">
            <a:extLst>
              <a:ext uri="{FF2B5EF4-FFF2-40B4-BE49-F238E27FC236}">
                <a16:creationId xmlns:a16="http://schemas.microsoft.com/office/drawing/2014/main" id="{3BF66BBE-62C9-4177-BF34-6B78BB94E7C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72954244"/>
              </p:ext>
            </p:extLst>
          </p:nvPr>
        </p:nvGraphicFramePr>
        <p:xfrm>
          <a:off x="-392835" y="961051"/>
          <a:ext cx="8085043" cy="560489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1" name="Shape 9">
            <a:extLst>
              <a:ext uri="{FF2B5EF4-FFF2-40B4-BE49-F238E27FC236}">
                <a16:creationId xmlns:a16="http://schemas.microsoft.com/office/drawing/2014/main" id="{17667385-9DB5-3B30-87B3-2C4BF66888EE}"/>
              </a:ext>
            </a:extLst>
          </p:cNvPr>
          <p:cNvSpPr/>
          <p:nvPr/>
        </p:nvSpPr>
        <p:spPr>
          <a:xfrm>
            <a:off x="7221566" y="2015618"/>
            <a:ext cx="4931501" cy="3302831"/>
          </a:xfrm>
          <a:prstGeom prst="roundRect">
            <a:avLst>
              <a:gd name="adj" fmla="val 1818"/>
            </a:avLst>
          </a:prstGeom>
          <a:solidFill>
            <a:srgbClr val="F7F9FA"/>
          </a:solidFill>
          <a:ln w="12700">
            <a:solidFill>
              <a:srgbClr val="DFE5E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35C79F01-6C29-50C2-D15B-1381DA305B7A}"/>
              </a:ext>
            </a:extLst>
          </p:cNvPr>
          <p:cNvSpPr/>
          <p:nvPr/>
        </p:nvSpPr>
        <p:spPr>
          <a:xfrm>
            <a:off x="7092158" y="2015618"/>
            <a:ext cx="4805996" cy="690322"/>
          </a:xfrm>
          <a:prstGeom prst="ellipse">
            <a:avLst/>
          </a:prstGeo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pPr marL="0" inden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400" b="1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Excel Pivot Table:-</a:t>
            </a:r>
            <a:endParaRPr lang="en-US" sz="3400" kern="120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EC2EF10A-BF23-800F-B375-4E380D56E0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5114546"/>
              </p:ext>
            </p:extLst>
          </p:nvPr>
        </p:nvGraphicFramePr>
        <p:xfrm>
          <a:off x="7295125" y="2584642"/>
          <a:ext cx="4749800" cy="25509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12900">
                  <a:extLst>
                    <a:ext uri="{9D8B030D-6E8A-4147-A177-3AD203B41FA5}">
                      <a16:colId xmlns:a16="http://schemas.microsoft.com/office/drawing/2014/main" val="944040743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485175982"/>
                    </a:ext>
                  </a:extLst>
                </a:gridCol>
                <a:gridCol w="711200">
                  <a:extLst>
                    <a:ext uri="{9D8B030D-6E8A-4147-A177-3AD203B41FA5}">
                      <a16:colId xmlns:a16="http://schemas.microsoft.com/office/drawing/2014/main" val="525180732"/>
                    </a:ext>
                  </a:extLst>
                </a:gridCol>
                <a:gridCol w="622300">
                  <a:extLst>
                    <a:ext uri="{9D8B030D-6E8A-4147-A177-3AD203B41FA5}">
                      <a16:colId xmlns:a16="http://schemas.microsoft.com/office/drawing/2014/main" val="188101605"/>
                    </a:ext>
                  </a:extLst>
                </a:gridCol>
                <a:gridCol w="736600">
                  <a:extLst>
                    <a:ext uri="{9D8B030D-6E8A-4147-A177-3AD203B41FA5}">
                      <a16:colId xmlns:a16="http://schemas.microsoft.com/office/drawing/2014/main" val="1188531142"/>
                    </a:ext>
                  </a:extLst>
                </a:gridCol>
              </a:tblGrid>
              <a:tr h="31887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Row Labels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Elective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 dirty="0">
                          <a:effectLst/>
                        </a:rPr>
                        <a:t>Emergency</a:t>
                      </a:r>
                      <a:endParaRPr lang="en-IN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Urgent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Grand Total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814002078"/>
                  </a:ext>
                </a:extLst>
              </a:tr>
              <a:tr h="31887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Arthritis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25,479.59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25,497.11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25,558.38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25,511.78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521266876"/>
                  </a:ext>
                </a:extLst>
              </a:tr>
              <a:tr h="31887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Asthma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25,253.91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25,893.70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25,761.37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25,633.46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829471760"/>
                  </a:ext>
                </a:extLst>
              </a:tr>
              <a:tr h="31887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 dirty="0">
                          <a:effectLst/>
                        </a:rPr>
                        <a:t>Cancer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25,671.84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24,867.22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24,900.21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25,152.32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4244906956"/>
                  </a:ext>
                </a:extLst>
              </a:tr>
              <a:tr h="31887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Diabetes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26,032.12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 dirty="0">
                          <a:effectLst/>
                        </a:rPr>
                        <a:t>25,471.61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25,484.65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25,660.48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793966921"/>
                  </a:ext>
                </a:extLst>
              </a:tr>
              <a:tr h="31887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Hypertension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25,555.09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25,471.37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25,479.25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25,503.06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146033620"/>
                  </a:ext>
                </a:extLst>
              </a:tr>
              <a:tr h="31887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Obesity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25,687.73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25,820.55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25,903.82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25,804.36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20358151"/>
                  </a:ext>
                </a:extLst>
              </a:tr>
              <a:tr h="31887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 dirty="0">
                          <a:effectLst/>
                        </a:rPr>
                        <a:t>Grand Total</a:t>
                      </a:r>
                      <a:endParaRPr lang="en-IN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25,612.14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25,505.33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25,514.53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 dirty="0">
                          <a:effectLst/>
                        </a:rPr>
                        <a:t>25,544.31</a:t>
                      </a:r>
                      <a:endParaRPr lang="en-IN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41368978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8886646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621792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226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Excel Pivot Tables -&gt; Tableau Dashboard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B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Cleaned MySQL data feeds Excel for structured Pivot Table reporting, then Tableau for a live, interactive executive dashboard.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11480" y="2080260"/>
            <a:ext cx="3566160" cy="3977640"/>
          </a:xfrm>
          <a:prstGeom prst="roundRect">
            <a:avLst>
              <a:gd name="adj" fmla="val 2051"/>
            </a:avLst>
          </a:prstGeom>
          <a:solidFill>
            <a:srgbClr val="EFF3F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822960" y="228600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1B7A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EXCEL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59" y="2560320"/>
            <a:ext cx="3086567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226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Hospital_Clean_Report.xlsx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822960" y="329184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D972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Pivot_Condition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22960" y="356616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B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Avg. billing &amp; patient count by medical condition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" y="4187952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D972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Pivot_Admission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22960" y="4462272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B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Condition x Admission Type cross-tab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5084064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D972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Pivot_Insurance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22960" y="5358384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B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Claims volume &amp; revenue by provider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343400" y="21031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1B7A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TABLEAU - LIVE DASHBOARD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114800" y="2404872"/>
            <a:ext cx="7772400" cy="3831336"/>
          </a:xfrm>
          <a:prstGeom prst="roundRect">
            <a:avLst>
              <a:gd name="adj" fmla="val 988"/>
            </a:avLst>
          </a:prstGeom>
          <a:solidFill>
            <a:srgbClr val="F7F9FA"/>
          </a:solidFill>
          <a:ln w="12700">
            <a:solidFill>
              <a:srgbClr val="DFE5E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6" name="Image 0" descr="/home/claude/ppt_assets/tableau_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1960" y="2496311"/>
            <a:ext cx="7528560" cy="3609565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36576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Hospital Billing &amp; Operations Analytics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A"/>
                </a:solidFill>
              </a:rPr>
              <a:t>9</a:t>
            </a:r>
            <a:endParaRPr lang="en-US" sz="900" dirty="0"/>
          </a:p>
        </p:txBody>
      </p:sp>
      <p:sp>
        <p:nvSpPr>
          <p:cNvPr id="19" name="Text 0">
            <a:extLst>
              <a:ext uri="{FF2B5EF4-FFF2-40B4-BE49-F238E27FC236}">
                <a16:creationId xmlns:a16="http://schemas.microsoft.com/office/drawing/2014/main" id="{34ABDCE2-DF62-7A38-F62C-2F971F14342C}"/>
              </a:ext>
            </a:extLst>
          </p:cNvPr>
          <p:cNvSpPr/>
          <p:nvPr/>
        </p:nvSpPr>
        <p:spPr>
          <a:xfrm>
            <a:off x="4579464" y="55984"/>
            <a:ext cx="221322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u="sng" kern="0" spc="200" dirty="0">
                <a:solidFill>
                  <a:srgbClr val="1B7A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TASK 6 :-</a:t>
            </a:r>
            <a:endParaRPr lang="en-US" sz="2800" u="sng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226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82296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Summary &amp; Key Learnings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64240" cy="1078992"/>
          </a:xfrm>
          <a:prstGeom prst="roundRect">
            <a:avLst>
              <a:gd name="adj" fmla="val 5085"/>
            </a:avLst>
          </a:prstGeom>
          <a:solidFill>
            <a:srgbClr val="16324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777240" y="2103120"/>
            <a:ext cx="457200" cy="457200"/>
          </a:xfrm>
          <a:prstGeom prst="ellipse">
            <a:avLst/>
          </a:prstGeom>
          <a:solidFill>
            <a:srgbClr val="1B7A7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777240" y="2103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63040" y="1947672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Pipeline Integration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4297680" y="1947672"/>
            <a:ext cx="70866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D4D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Successfully connected 5 tools - MySQL, Python, Matplotlib, Excel, Tableau - into one coherent, reproducible workflow rather than isolated exercises.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3035808"/>
            <a:ext cx="11064240" cy="1078992"/>
          </a:xfrm>
          <a:prstGeom prst="roundRect">
            <a:avLst>
              <a:gd name="adj" fmla="val 5085"/>
            </a:avLst>
          </a:prstGeom>
          <a:solidFill>
            <a:srgbClr val="16324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777240" y="3310128"/>
            <a:ext cx="457200" cy="457200"/>
          </a:xfrm>
          <a:prstGeom prst="ellipse">
            <a:avLst/>
          </a:prstGeom>
          <a:solidFill>
            <a:srgbClr val="D9724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777240" y="33101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463040" y="315468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Honest Statistical Finding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4297680" y="3154680"/>
            <a:ext cx="70866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D4D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Billing amount and length of stay show minimal variance across condition, admission type, age, and insurance - a genuine synthetic-data property, reported rather than forced into a false narrative.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4242816"/>
            <a:ext cx="11064240" cy="1078992"/>
          </a:xfrm>
          <a:prstGeom prst="roundRect">
            <a:avLst>
              <a:gd name="adj" fmla="val 5085"/>
            </a:avLst>
          </a:prstGeom>
          <a:solidFill>
            <a:srgbClr val="16324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777240" y="4517136"/>
            <a:ext cx="457200" cy="457200"/>
          </a:xfrm>
          <a:prstGeom prst="ellipse">
            <a:avLst/>
          </a:prstGeom>
          <a:solidFill>
            <a:srgbClr val="1B7A7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777240" y="451713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463040" y="4361688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Volume Drives Revenue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4297680" y="4361688"/>
            <a:ext cx="70866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D4D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Since per-patient billing is nearly constant, total monthly revenue tracks patient admission volume almost directly - confirmed visually via the dual-axis combo chart.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5449824"/>
            <a:ext cx="11064240" cy="1078992"/>
          </a:xfrm>
          <a:prstGeom prst="roundRect">
            <a:avLst>
              <a:gd name="adj" fmla="val 5085"/>
            </a:avLst>
          </a:prstGeom>
          <a:solidFill>
            <a:srgbClr val="16324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777240" y="5724144"/>
            <a:ext cx="457200" cy="457200"/>
          </a:xfrm>
          <a:prstGeom prst="ellipse">
            <a:avLst/>
          </a:prstGeom>
          <a:solidFill>
            <a:srgbClr val="D9724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777240" y="572414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463040" y="5568696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Real-World Data Skills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4297680" y="5568696"/>
            <a:ext cx="70866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D4D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Practiced core professional habits: duplicate/null handling, format normalization, SQL aggregation, and choosing the right chart type for what the data actually shows.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804850" y="6492240"/>
            <a:ext cx="122106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1B7A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you.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2000" fill="hold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2086</TotalTime>
  <Words>1177</Words>
  <Application>Microsoft Office PowerPoint</Application>
  <PresentationFormat>Widescreen</PresentationFormat>
  <Paragraphs>294</Paragraphs>
  <Slides>19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Arial</vt:lpstr>
      <vt:lpstr>Calibri</vt:lpstr>
      <vt:lpstr>Garamond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Saarth _</cp:lastModifiedBy>
  <cp:revision>5</cp:revision>
  <dcterms:created xsi:type="dcterms:W3CDTF">2026-07-18T14:14:13Z</dcterms:created>
  <dcterms:modified xsi:type="dcterms:W3CDTF">2026-07-20T18:52:18Z</dcterms:modified>
</cp:coreProperties>
</file>